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18" r:id="rId2"/>
    <p:sldId id="257" r:id="rId3"/>
    <p:sldId id="258" r:id="rId4"/>
    <p:sldId id="297" r:id="rId5"/>
    <p:sldId id="319" r:id="rId6"/>
    <p:sldId id="320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E082F"/>
    <a:srgbClr val="7006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1162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8007CD1-38CB-4796-BD9E-19071D167AFF}" type="doc">
      <dgm:prSet loTypeId="urn:microsoft.com/office/officeart/2005/8/layout/venn1" loCatId="relationship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0B943D0-A390-4C8F-8D75-6129F5023CD2}">
      <dgm:prSet custT="1"/>
      <dgm:spPr>
        <a:solidFill>
          <a:srgbClr val="9BBB59">
            <a:alpha val="50000"/>
          </a:srgbClr>
        </a:solidFill>
      </dgm:spPr>
      <dgm:t>
        <a:bodyPr/>
        <a:lstStyle/>
        <a:p>
          <a:pPr rtl="0"/>
          <a:r>
            <a:rPr lang="en-US" sz="1400" b="1" dirty="0"/>
            <a:t>Social Benefits</a:t>
          </a:r>
          <a:r>
            <a:rPr lang="en-US" sz="1900" dirty="0"/>
            <a:t>:</a:t>
          </a:r>
          <a:endParaRPr lang="en-IN" sz="1900" dirty="0"/>
        </a:p>
      </dgm:t>
    </dgm:pt>
    <dgm:pt modelId="{D0B888BD-0E16-4753-92DB-8F8486EA071E}" type="parTrans" cxnId="{2F553387-5578-41A0-843A-CBE34D1F7236}">
      <dgm:prSet/>
      <dgm:spPr/>
      <dgm:t>
        <a:bodyPr/>
        <a:lstStyle/>
        <a:p>
          <a:endParaRPr lang="en-US"/>
        </a:p>
      </dgm:t>
    </dgm:pt>
    <dgm:pt modelId="{BDF05199-4A24-427B-AFB3-BF5D18FB1D2A}" type="sibTrans" cxnId="{2F553387-5578-41A0-843A-CBE34D1F7236}">
      <dgm:prSet/>
      <dgm:spPr/>
      <dgm:t>
        <a:bodyPr/>
        <a:lstStyle/>
        <a:p>
          <a:endParaRPr lang="en-US"/>
        </a:p>
      </dgm:t>
    </dgm:pt>
    <dgm:pt modelId="{DC1093C8-1B0A-48D0-A38B-E4FCEF7D90A0}">
      <dgm:prSet custT="1"/>
      <dgm:spPr>
        <a:solidFill>
          <a:srgbClr val="FFFF00">
            <a:alpha val="50000"/>
          </a:srgbClr>
        </a:solidFill>
      </dgm:spPr>
      <dgm:t>
        <a:bodyPr/>
        <a:lstStyle/>
        <a:p>
          <a:pPr rtl="0"/>
          <a:r>
            <a:rPr lang="en-US" sz="1050" dirty="0"/>
            <a:t>Promotes digital inclusion by providing easy-to-use, multilingual, and voice-enabled features</a:t>
          </a:r>
          <a:r>
            <a:rPr lang="en-US" sz="900" dirty="0"/>
            <a:t>.</a:t>
          </a:r>
          <a:endParaRPr lang="en-IN" sz="900" dirty="0"/>
        </a:p>
      </dgm:t>
    </dgm:pt>
    <dgm:pt modelId="{3B371F86-E8A3-47A3-820A-A32506F6507E}" type="parTrans" cxnId="{2EA00FFE-00FC-4B35-A0C6-5DAA687B5173}">
      <dgm:prSet/>
      <dgm:spPr/>
      <dgm:t>
        <a:bodyPr/>
        <a:lstStyle/>
        <a:p>
          <a:endParaRPr lang="en-US"/>
        </a:p>
      </dgm:t>
    </dgm:pt>
    <dgm:pt modelId="{19C19C78-C9C2-4D38-AD2E-AED2211451A6}" type="sibTrans" cxnId="{2EA00FFE-00FC-4B35-A0C6-5DAA687B5173}">
      <dgm:prSet/>
      <dgm:spPr/>
      <dgm:t>
        <a:bodyPr/>
        <a:lstStyle/>
        <a:p>
          <a:endParaRPr lang="en-US"/>
        </a:p>
      </dgm:t>
    </dgm:pt>
    <dgm:pt modelId="{E348DA32-9FC9-4CE1-90C4-DC3DAE5B7D7E}">
      <dgm:prSet custT="1"/>
      <dgm:spPr>
        <a:solidFill>
          <a:srgbClr val="FFDB69"/>
        </a:solidFill>
      </dgm:spPr>
      <dgm:t>
        <a:bodyPr/>
        <a:lstStyle/>
        <a:p>
          <a:pPr rtl="0"/>
          <a:r>
            <a:rPr lang="en-US" sz="1000" dirty="0"/>
            <a:t>Builds stronger farmer communities through shared knowledge and expert-farmer interaction.</a:t>
          </a:r>
          <a:endParaRPr lang="en-IN" sz="1000" dirty="0"/>
        </a:p>
      </dgm:t>
    </dgm:pt>
    <dgm:pt modelId="{DB399FD9-53EE-4A8D-A818-BEE64C1CD56E}" type="parTrans" cxnId="{056912EE-4FFC-4F2A-A99E-44103CB6222B}">
      <dgm:prSet/>
      <dgm:spPr/>
      <dgm:t>
        <a:bodyPr/>
        <a:lstStyle/>
        <a:p>
          <a:endParaRPr lang="en-US"/>
        </a:p>
      </dgm:t>
    </dgm:pt>
    <dgm:pt modelId="{4B41267F-D8C5-40C8-8C8B-A6275CB8899D}" type="sibTrans" cxnId="{056912EE-4FFC-4F2A-A99E-44103CB6222B}">
      <dgm:prSet/>
      <dgm:spPr/>
      <dgm:t>
        <a:bodyPr/>
        <a:lstStyle/>
        <a:p>
          <a:endParaRPr lang="en-US"/>
        </a:p>
      </dgm:t>
    </dgm:pt>
    <dgm:pt modelId="{6B3936DD-3353-468C-A58A-01ABA5976D36}">
      <dgm:prSet custT="1"/>
      <dgm:spPr/>
      <dgm:t>
        <a:bodyPr/>
        <a:lstStyle/>
        <a:p>
          <a:pPr rtl="0"/>
          <a:r>
            <a:rPr lang="en-US" sz="1050" dirty="0"/>
            <a:t>Reduces stress among farmers by offering instant support for farming challenges</a:t>
          </a:r>
          <a:r>
            <a:rPr lang="en-US" sz="900" dirty="0"/>
            <a:t>.</a:t>
          </a:r>
          <a:endParaRPr lang="en-IN" sz="900" dirty="0"/>
        </a:p>
      </dgm:t>
    </dgm:pt>
    <dgm:pt modelId="{5B504CBD-6561-4CCB-9352-152FA770EEE9}" type="parTrans" cxnId="{146BD86D-9F11-4454-9342-AB8F7E31A137}">
      <dgm:prSet/>
      <dgm:spPr/>
      <dgm:t>
        <a:bodyPr/>
        <a:lstStyle/>
        <a:p>
          <a:endParaRPr lang="en-US"/>
        </a:p>
      </dgm:t>
    </dgm:pt>
    <dgm:pt modelId="{2EC6498A-6F3F-46A5-AA3C-44D21F22CE26}" type="sibTrans" cxnId="{146BD86D-9F11-4454-9342-AB8F7E31A137}">
      <dgm:prSet/>
      <dgm:spPr/>
      <dgm:t>
        <a:bodyPr/>
        <a:lstStyle/>
        <a:p>
          <a:endParaRPr lang="en-US"/>
        </a:p>
      </dgm:t>
    </dgm:pt>
    <dgm:pt modelId="{FD5FF0FF-BA51-4F48-9659-93EFB4576E3E}" type="pres">
      <dgm:prSet presAssocID="{C8007CD1-38CB-4796-BD9E-19071D167AFF}" presName="compositeShape" presStyleCnt="0">
        <dgm:presLayoutVars>
          <dgm:chMax val="7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3E176B1-D997-4818-9582-ABD62790C9CB}" type="pres">
      <dgm:prSet presAssocID="{20B943D0-A390-4C8F-8D75-6129F5023CD2}" presName="circ1" presStyleLbl="vennNode1" presStyleIdx="0" presStyleCnt="4" custLinFactNeighborX="-2918" custLinFactNeighborY="168"/>
      <dgm:spPr/>
      <dgm:t>
        <a:bodyPr/>
        <a:lstStyle/>
        <a:p>
          <a:endParaRPr lang="en-US"/>
        </a:p>
      </dgm:t>
    </dgm:pt>
    <dgm:pt modelId="{8F45A090-40F5-44CF-B2E8-9FDD9310B8BE}" type="pres">
      <dgm:prSet presAssocID="{20B943D0-A390-4C8F-8D75-6129F5023CD2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A2BD0D-E5D8-4270-A44C-84CAB6D596BB}" type="pres">
      <dgm:prSet presAssocID="{DC1093C8-1B0A-48D0-A38B-E4FCEF7D90A0}" presName="circ2" presStyleLbl="vennNode1" presStyleIdx="1" presStyleCnt="4" custScaleX="117310" custLinFactNeighborX="-6064" custLinFactNeighborY="-10213"/>
      <dgm:spPr/>
      <dgm:t>
        <a:bodyPr/>
        <a:lstStyle/>
        <a:p>
          <a:endParaRPr lang="en-US"/>
        </a:p>
      </dgm:t>
    </dgm:pt>
    <dgm:pt modelId="{C1EF979C-8500-4DD5-B249-A8F6EC6E1E0A}" type="pres">
      <dgm:prSet presAssocID="{DC1093C8-1B0A-48D0-A38B-E4FCEF7D90A0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F27D10-FBB3-471A-85EB-0F6B0895EAC9}" type="pres">
      <dgm:prSet presAssocID="{E348DA32-9FC9-4CE1-90C4-DC3DAE5B7D7E}" presName="circ3" presStyleLbl="vennNode1" presStyleIdx="2" presStyleCnt="4" custScaleY="105145" custLinFactNeighborX="347" custLinFactNeighborY="6001"/>
      <dgm:spPr/>
      <dgm:t>
        <a:bodyPr/>
        <a:lstStyle/>
        <a:p>
          <a:endParaRPr lang="en-US"/>
        </a:p>
      </dgm:t>
    </dgm:pt>
    <dgm:pt modelId="{8F9BEAAA-5D34-4686-974F-24FA2C679FFC}" type="pres">
      <dgm:prSet presAssocID="{E348DA32-9FC9-4CE1-90C4-DC3DAE5B7D7E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B53A76D-B3E2-4D25-B9A8-406495A63D86}" type="pres">
      <dgm:prSet presAssocID="{6B3936DD-3353-468C-A58A-01ABA5976D36}" presName="circ4" presStyleLbl="vennNode1" presStyleIdx="3" presStyleCnt="4" custScaleX="125216" custLinFactNeighborX="-79" custLinFactNeighborY="-4869"/>
      <dgm:spPr/>
      <dgm:t>
        <a:bodyPr/>
        <a:lstStyle/>
        <a:p>
          <a:endParaRPr lang="en-US"/>
        </a:p>
      </dgm:t>
    </dgm:pt>
    <dgm:pt modelId="{1BA2B536-74DD-4284-AA03-2790AC4FBB1C}" type="pres">
      <dgm:prSet presAssocID="{6B3936DD-3353-468C-A58A-01ABA5976D36}" presName="circ4Tx" presStyleLbl="revTx" presStyleIdx="0" presStyleCnt="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31CCA14-22C3-48ED-9005-2A37B104A777}" type="presOf" srcId="{6B3936DD-3353-468C-A58A-01ABA5976D36}" destId="{3B53A76D-B3E2-4D25-B9A8-406495A63D86}" srcOrd="0" destOrd="0" presId="urn:microsoft.com/office/officeart/2005/8/layout/venn1"/>
    <dgm:cxn modelId="{9530D062-7550-41CB-AE4E-170C6AE71683}" type="presOf" srcId="{20B943D0-A390-4C8F-8D75-6129F5023CD2}" destId="{8F45A090-40F5-44CF-B2E8-9FDD9310B8BE}" srcOrd="1" destOrd="0" presId="urn:microsoft.com/office/officeart/2005/8/layout/venn1"/>
    <dgm:cxn modelId="{815975C5-20A8-42CC-A269-6A6103B9EAD9}" type="presOf" srcId="{E348DA32-9FC9-4CE1-90C4-DC3DAE5B7D7E}" destId="{8F9BEAAA-5D34-4686-974F-24FA2C679FFC}" srcOrd="1" destOrd="0" presId="urn:microsoft.com/office/officeart/2005/8/layout/venn1"/>
    <dgm:cxn modelId="{9FDECDA9-D52E-48AB-B55F-33B0F6AC1766}" type="presOf" srcId="{E348DA32-9FC9-4CE1-90C4-DC3DAE5B7D7E}" destId="{EBF27D10-FBB3-471A-85EB-0F6B0895EAC9}" srcOrd="0" destOrd="0" presId="urn:microsoft.com/office/officeart/2005/8/layout/venn1"/>
    <dgm:cxn modelId="{A6B28077-F09B-45A3-8BE4-9EF6133CFD86}" type="presOf" srcId="{DC1093C8-1B0A-48D0-A38B-E4FCEF7D90A0}" destId="{DDA2BD0D-E5D8-4270-A44C-84CAB6D596BB}" srcOrd="0" destOrd="0" presId="urn:microsoft.com/office/officeart/2005/8/layout/venn1"/>
    <dgm:cxn modelId="{056912EE-4FFC-4F2A-A99E-44103CB6222B}" srcId="{C8007CD1-38CB-4796-BD9E-19071D167AFF}" destId="{E348DA32-9FC9-4CE1-90C4-DC3DAE5B7D7E}" srcOrd="2" destOrd="0" parTransId="{DB399FD9-53EE-4A8D-A818-BEE64C1CD56E}" sibTransId="{4B41267F-D8C5-40C8-8C8B-A6275CB8899D}"/>
    <dgm:cxn modelId="{2EA00FFE-00FC-4B35-A0C6-5DAA687B5173}" srcId="{C8007CD1-38CB-4796-BD9E-19071D167AFF}" destId="{DC1093C8-1B0A-48D0-A38B-E4FCEF7D90A0}" srcOrd="1" destOrd="0" parTransId="{3B371F86-E8A3-47A3-820A-A32506F6507E}" sibTransId="{19C19C78-C9C2-4D38-AD2E-AED2211451A6}"/>
    <dgm:cxn modelId="{146BD86D-9F11-4454-9342-AB8F7E31A137}" srcId="{C8007CD1-38CB-4796-BD9E-19071D167AFF}" destId="{6B3936DD-3353-468C-A58A-01ABA5976D36}" srcOrd="3" destOrd="0" parTransId="{5B504CBD-6561-4CCB-9352-152FA770EEE9}" sibTransId="{2EC6498A-6F3F-46A5-AA3C-44D21F22CE26}"/>
    <dgm:cxn modelId="{41DFBDD6-3DEE-4AB0-B92A-73BCAA14B6D2}" type="presOf" srcId="{6B3936DD-3353-468C-A58A-01ABA5976D36}" destId="{1BA2B536-74DD-4284-AA03-2790AC4FBB1C}" srcOrd="1" destOrd="0" presId="urn:microsoft.com/office/officeart/2005/8/layout/venn1"/>
    <dgm:cxn modelId="{F6970CDE-51A1-4ACA-BDB1-94DF3CA22158}" type="presOf" srcId="{DC1093C8-1B0A-48D0-A38B-E4FCEF7D90A0}" destId="{C1EF979C-8500-4DD5-B249-A8F6EC6E1E0A}" srcOrd="1" destOrd="0" presId="urn:microsoft.com/office/officeart/2005/8/layout/venn1"/>
    <dgm:cxn modelId="{CAC4FAD3-1AC1-4784-AB44-0546411B46AF}" type="presOf" srcId="{20B943D0-A390-4C8F-8D75-6129F5023CD2}" destId="{73E176B1-D997-4818-9582-ABD62790C9CB}" srcOrd="0" destOrd="0" presId="urn:microsoft.com/office/officeart/2005/8/layout/venn1"/>
    <dgm:cxn modelId="{2F553387-5578-41A0-843A-CBE34D1F7236}" srcId="{C8007CD1-38CB-4796-BD9E-19071D167AFF}" destId="{20B943D0-A390-4C8F-8D75-6129F5023CD2}" srcOrd="0" destOrd="0" parTransId="{D0B888BD-0E16-4753-92DB-8F8486EA071E}" sibTransId="{BDF05199-4A24-427B-AFB3-BF5D18FB1D2A}"/>
    <dgm:cxn modelId="{E639D566-8720-493E-9E00-0857D0686629}" type="presOf" srcId="{C8007CD1-38CB-4796-BD9E-19071D167AFF}" destId="{FD5FF0FF-BA51-4F48-9659-93EFB4576E3E}" srcOrd="0" destOrd="0" presId="urn:microsoft.com/office/officeart/2005/8/layout/venn1"/>
    <dgm:cxn modelId="{14B3EF48-C65C-42AF-B471-DE8066B59A5E}" type="presParOf" srcId="{FD5FF0FF-BA51-4F48-9659-93EFB4576E3E}" destId="{73E176B1-D997-4818-9582-ABD62790C9CB}" srcOrd="0" destOrd="0" presId="urn:microsoft.com/office/officeart/2005/8/layout/venn1"/>
    <dgm:cxn modelId="{A8EF9B81-5B4A-4CF5-A130-5E2CDDCC03A9}" type="presParOf" srcId="{FD5FF0FF-BA51-4F48-9659-93EFB4576E3E}" destId="{8F45A090-40F5-44CF-B2E8-9FDD9310B8BE}" srcOrd="1" destOrd="0" presId="urn:microsoft.com/office/officeart/2005/8/layout/venn1"/>
    <dgm:cxn modelId="{ED71ED01-98B7-41E4-9649-A201DDC60FC9}" type="presParOf" srcId="{FD5FF0FF-BA51-4F48-9659-93EFB4576E3E}" destId="{DDA2BD0D-E5D8-4270-A44C-84CAB6D596BB}" srcOrd="2" destOrd="0" presId="urn:microsoft.com/office/officeart/2005/8/layout/venn1"/>
    <dgm:cxn modelId="{47B77FB0-4E89-458E-8F3D-0E6F56CFEC18}" type="presParOf" srcId="{FD5FF0FF-BA51-4F48-9659-93EFB4576E3E}" destId="{C1EF979C-8500-4DD5-B249-A8F6EC6E1E0A}" srcOrd="3" destOrd="0" presId="urn:microsoft.com/office/officeart/2005/8/layout/venn1"/>
    <dgm:cxn modelId="{A7677B71-4DC7-4D9E-A272-1D588023F39A}" type="presParOf" srcId="{FD5FF0FF-BA51-4F48-9659-93EFB4576E3E}" destId="{EBF27D10-FBB3-471A-85EB-0F6B0895EAC9}" srcOrd="4" destOrd="0" presId="urn:microsoft.com/office/officeart/2005/8/layout/venn1"/>
    <dgm:cxn modelId="{BB018871-D037-47AE-9BB5-B5B842EB5D92}" type="presParOf" srcId="{FD5FF0FF-BA51-4F48-9659-93EFB4576E3E}" destId="{8F9BEAAA-5D34-4686-974F-24FA2C679FFC}" srcOrd="5" destOrd="0" presId="urn:microsoft.com/office/officeart/2005/8/layout/venn1"/>
    <dgm:cxn modelId="{DCE32248-D633-43D3-9CC2-44E9808957CD}" type="presParOf" srcId="{FD5FF0FF-BA51-4F48-9659-93EFB4576E3E}" destId="{3B53A76D-B3E2-4D25-B9A8-406495A63D86}" srcOrd="6" destOrd="0" presId="urn:microsoft.com/office/officeart/2005/8/layout/venn1"/>
    <dgm:cxn modelId="{ECB1528F-4970-4679-9BE0-64A9993168D5}" type="presParOf" srcId="{FD5FF0FF-BA51-4F48-9659-93EFB4576E3E}" destId="{1BA2B536-74DD-4284-AA03-2790AC4FBB1C}" srcOrd="7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4690AC0-7834-4982-8F03-FDB40ABB1367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F94B739-61FB-43C0-94DD-FCC2D6311FAE}">
      <dgm:prSet custT="1"/>
      <dgm:spPr>
        <a:solidFill>
          <a:schemeClr val="bg2">
            <a:lumMod val="75000"/>
            <a:alpha val="90000"/>
          </a:schemeClr>
        </a:solidFill>
      </dgm:spPr>
      <dgm:t>
        <a:bodyPr/>
        <a:lstStyle/>
        <a:p>
          <a:pPr rtl="0"/>
          <a:r>
            <a:rPr lang="en-US" sz="1400" b="1" dirty="0"/>
            <a:t>Economic Benefits</a:t>
          </a:r>
          <a:r>
            <a:rPr lang="en-US" sz="1400" dirty="0"/>
            <a:t>:</a:t>
          </a:r>
          <a:endParaRPr lang="en-IN" sz="1400" dirty="0"/>
        </a:p>
      </dgm:t>
    </dgm:pt>
    <dgm:pt modelId="{4E501EFE-8C0B-4378-B81E-3D250CB81380}" type="parTrans" cxnId="{EC44C4B5-BDBB-49E9-A4E1-A437E990EC75}">
      <dgm:prSet/>
      <dgm:spPr/>
      <dgm:t>
        <a:bodyPr/>
        <a:lstStyle/>
        <a:p>
          <a:endParaRPr lang="en-US"/>
        </a:p>
      </dgm:t>
    </dgm:pt>
    <dgm:pt modelId="{E8C446D8-8EE3-4BA5-B07E-4719466F11F6}" type="sibTrans" cxnId="{EC44C4B5-BDBB-49E9-A4E1-A437E990EC75}">
      <dgm:prSet/>
      <dgm:spPr/>
      <dgm:t>
        <a:bodyPr/>
        <a:lstStyle/>
        <a:p>
          <a:endParaRPr lang="en-US"/>
        </a:p>
      </dgm:t>
    </dgm:pt>
    <dgm:pt modelId="{914AFB87-8A09-47B0-92ED-BC4A328FBAA1}">
      <dgm:prSet custT="1"/>
      <dgm:spPr>
        <a:solidFill>
          <a:srgbClr val="FFFF00">
            <a:alpha val="90000"/>
          </a:srgbClr>
        </a:solidFill>
      </dgm:spPr>
      <dgm:t>
        <a:bodyPr/>
        <a:lstStyle/>
        <a:p>
          <a:pPr rtl="0"/>
          <a:r>
            <a:rPr lang="en-US" sz="1200" dirty="0"/>
            <a:t>Increases crop yield and productivity through better farming practices.</a:t>
          </a:r>
          <a:endParaRPr lang="en-IN" sz="1200" dirty="0"/>
        </a:p>
      </dgm:t>
    </dgm:pt>
    <dgm:pt modelId="{98B2488E-A77B-481B-9023-042FA2EBB52A}" type="parTrans" cxnId="{C689E6D0-D01B-4462-BFB8-519DC68879CD}">
      <dgm:prSet/>
      <dgm:spPr/>
      <dgm:t>
        <a:bodyPr/>
        <a:lstStyle/>
        <a:p>
          <a:endParaRPr lang="en-US"/>
        </a:p>
      </dgm:t>
    </dgm:pt>
    <dgm:pt modelId="{08E9B183-0D9E-4772-87C7-C09CB0672721}" type="sibTrans" cxnId="{C689E6D0-D01B-4462-BFB8-519DC68879CD}">
      <dgm:prSet/>
      <dgm:spPr/>
      <dgm:t>
        <a:bodyPr/>
        <a:lstStyle/>
        <a:p>
          <a:endParaRPr lang="en-US"/>
        </a:p>
      </dgm:t>
    </dgm:pt>
    <dgm:pt modelId="{80107A3B-D934-44E2-AEA7-8D601B307862}">
      <dgm:prSet custT="1"/>
      <dgm:spPr>
        <a:solidFill>
          <a:srgbClr val="FFFF93">
            <a:alpha val="90000"/>
          </a:srgbClr>
        </a:solidFill>
      </dgm:spPr>
      <dgm:t>
        <a:bodyPr/>
        <a:lstStyle/>
        <a:p>
          <a:pPr rtl="0"/>
          <a:r>
            <a:rPr lang="en-US" sz="1200" dirty="0"/>
            <a:t>Reduces losses caused by pest attacks, diseases, and unpredictable weather.</a:t>
          </a:r>
          <a:endParaRPr lang="en-IN" sz="1200" dirty="0"/>
        </a:p>
      </dgm:t>
    </dgm:pt>
    <dgm:pt modelId="{B6F7DF27-7E70-40BA-AC78-FC7A58B40D04}" type="parTrans" cxnId="{C02A72C0-99C4-4C0A-92F6-395D759E115B}">
      <dgm:prSet/>
      <dgm:spPr/>
      <dgm:t>
        <a:bodyPr/>
        <a:lstStyle/>
        <a:p>
          <a:endParaRPr lang="en-US"/>
        </a:p>
      </dgm:t>
    </dgm:pt>
    <dgm:pt modelId="{FDE3EADA-9AA5-4319-AEB3-29A8EF27A833}" type="sibTrans" cxnId="{C02A72C0-99C4-4C0A-92F6-395D759E115B}">
      <dgm:prSet/>
      <dgm:spPr/>
      <dgm:t>
        <a:bodyPr/>
        <a:lstStyle/>
        <a:p>
          <a:endParaRPr lang="en-US"/>
        </a:p>
      </dgm:t>
    </dgm:pt>
    <dgm:pt modelId="{2149C21F-B584-48A8-AE26-73BCB28C5E34}">
      <dgm:prSet custT="1"/>
      <dgm:spPr>
        <a:solidFill>
          <a:srgbClr val="39B0D4">
            <a:alpha val="90000"/>
          </a:srgbClr>
        </a:solidFill>
      </dgm:spPr>
      <dgm:t>
        <a:bodyPr/>
        <a:lstStyle/>
        <a:p>
          <a:pPr rtl="0"/>
          <a:r>
            <a:rPr lang="en-US" sz="1200" dirty="0"/>
            <a:t>Enhances farmer income by suggesting profitable crops and connecting with markets.</a:t>
          </a:r>
          <a:endParaRPr lang="en-IN" sz="1200" dirty="0"/>
        </a:p>
      </dgm:t>
    </dgm:pt>
    <dgm:pt modelId="{862087E2-9FB0-4EDD-95A8-8777EE080209}" type="parTrans" cxnId="{A907331A-ADA7-4B38-AA02-A74F510A6E04}">
      <dgm:prSet/>
      <dgm:spPr/>
      <dgm:t>
        <a:bodyPr/>
        <a:lstStyle/>
        <a:p>
          <a:endParaRPr lang="en-US"/>
        </a:p>
      </dgm:t>
    </dgm:pt>
    <dgm:pt modelId="{C4A062E4-5E06-4AB5-B157-35A40CB94AA6}" type="sibTrans" cxnId="{A907331A-ADA7-4B38-AA02-A74F510A6E04}">
      <dgm:prSet/>
      <dgm:spPr/>
      <dgm:t>
        <a:bodyPr/>
        <a:lstStyle/>
        <a:p>
          <a:endParaRPr lang="en-US"/>
        </a:p>
      </dgm:t>
    </dgm:pt>
    <dgm:pt modelId="{FF0D945F-54E6-474D-886F-EAC77A928E47}">
      <dgm:prSet custT="1"/>
      <dgm:spPr>
        <a:solidFill>
          <a:srgbClr val="FFC000">
            <a:alpha val="90000"/>
          </a:srgbClr>
        </a:solidFill>
      </dgm:spPr>
      <dgm:t>
        <a:bodyPr/>
        <a:lstStyle/>
        <a:p>
          <a:pPr rtl="0"/>
          <a:r>
            <a:rPr lang="en-US" sz="1200" dirty="0"/>
            <a:t>Lowers costs by optimizing fertilizer, pesticide, and water usage.</a:t>
          </a:r>
          <a:endParaRPr lang="en-IN" sz="1200" dirty="0"/>
        </a:p>
      </dgm:t>
    </dgm:pt>
    <dgm:pt modelId="{660555BD-D509-46B0-B054-19A595CE5075}" type="parTrans" cxnId="{ED32F848-AD2A-422B-953F-F2D44AF78CDB}">
      <dgm:prSet/>
      <dgm:spPr/>
      <dgm:t>
        <a:bodyPr/>
        <a:lstStyle/>
        <a:p>
          <a:endParaRPr lang="en-US"/>
        </a:p>
      </dgm:t>
    </dgm:pt>
    <dgm:pt modelId="{C0A516D2-FC37-46CE-B6A2-990DDF2D155C}" type="sibTrans" cxnId="{ED32F848-AD2A-422B-953F-F2D44AF78CDB}">
      <dgm:prSet/>
      <dgm:spPr/>
      <dgm:t>
        <a:bodyPr/>
        <a:lstStyle/>
        <a:p>
          <a:endParaRPr lang="en-US"/>
        </a:p>
      </dgm:t>
    </dgm:pt>
    <dgm:pt modelId="{E82AC670-6FD7-42FD-A8EB-F17939F352C9}" type="pres">
      <dgm:prSet presAssocID="{44690AC0-7834-4982-8F03-FDB40ABB1367}" presName="compositeShape" presStyleCnt="0">
        <dgm:presLayoutVars>
          <dgm:dir/>
          <dgm:resizeHandles/>
        </dgm:presLayoutVars>
      </dgm:prSet>
      <dgm:spPr/>
      <dgm:t>
        <a:bodyPr/>
        <a:lstStyle/>
        <a:p>
          <a:endParaRPr lang="en-US"/>
        </a:p>
      </dgm:t>
    </dgm:pt>
    <dgm:pt modelId="{6A824E06-F65C-4F39-B69F-749691EA790F}" type="pres">
      <dgm:prSet presAssocID="{44690AC0-7834-4982-8F03-FDB40ABB1367}" presName="pyramid" presStyleLbl="node1" presStyleIdx="0" presStyleCnt="1" custScaleX="94912"/>
      <dgm:spPr>
        <a:solidFill>
          <a:srgbClr val="A8D4AD"/>
        </a:solidFill>
      </dgm:spPr>
    </dgm:pt>
    <dgm:pt modelId="{8C1D5FCC-A212-4267-9E16-AE968AE3D2D8}" type="pres">
      <dgm:prSet presAssocID="{44690AC0-7834-4982-8F03-FDB40ABB1367}" presName="theList" presStyleCnt="0"/>
      <dgm:spPr/>
    </dgm:pt>
    <dgm:pt modelId="{C26A787B-6781-4293-A3A8-8A93DEA09EF7}" type="pres">
      <dgm:prSet presAssocID="{EF94B739-61FB-43C0-94DD-FCC2D6311FAE}" presName="aNode" presStyleLbl="fgAcc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FF2A280-709C-45B7-8D9C-ABDE2EA7EC70}" type="pres">
      <dgm:prSet presAssocID="{EF94B739-61FB-43C0-94DD-FCC2D6311FAE}" presName="aSpace" presStyleCnt="0"/>
      <dgm:spPr/>
    </dgm:pt>
    <dgm:pt modelId="{4944F435-035C-41C6-ABB0-24D66B2BE151}" type="pres">
      <dgm:prSet presAssocID="{914AFB87-8A09-47B0-92ED-BC4A328FBAA1}" presName="aNode" presStyleLbl="fgAcc1" presStyleIdx="1" presStyleCnt="5" custScaleX="128094" custLinFactNeighborX="2669" custLinFactNeighborY="626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1033BDA-A0E6-40BE-BFF9-40FF3D47DA62}" type="pres">
      <dgm:prSet presAssocID="{914AFB87-8A09-47B0-92ED-BC4A328FBAA1}" presName="aSpace" presStyleCnt="0"/>
      <dgm:spPr/>
    </dgm:pt>
    <dgm:pt modelId="{812B48B9-FDCF-43F4-855D-A0F1EE321ACB}" type="pres">
      <dgm:prSet presAssocID="{80107A3B-D934-44E2-AEA7-8D601B307862}" presName="aNode" presStyleLbl="fgAcc1" presStyleIdx="2" presStyleCnt="5" custScaleX="130754" custLinFactY="8607" custLinFactNeighborX="1339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FDDA94-8375-4BCA-BE65-82691EEC16DD}" type="pres">
      <dgm:prSet presAssocID="{80107A3B-D934-44E2-AEA7-8D601B307862}" presName="aSpace" presStyleCnt="0"/>
      <dgm:spPr/>
    </dgm:pt>
    <dgm:pt modelId="{CF655F10-C398-4E9B-85C3-D4B26CF620C2}" type="pres">
      <dgm:prSet presAssocID="{2149C21F-B584-48A8-AE26-73BCB28C5E34}" presName="aNode" presStyleLbl="fgAcc1" presStyleIdx="3" presStyleCnt="5" custScaleX="130218" custScaleY="143792" custLinFactY="18809" custLinFactNeighborX="1607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AE06B3-08B4-470F-B7D5-272B5024054E}" type="pres">
      <dgm:prSet presAssocID="{2149C21F-B584-48A8-AE26-73BCB28C5E34}" presName="aSpace" presStyleCnt="0"/>
      <dgm:spPr/>
    </dgm:pt>
    <dgm:pt modelId="{9FAA0CCE-FA29-4B78-B0DA-166110E54128}" type="pres">
      <dgm:prSet presAssocID="{FF0D945F-54E6-474D-886F-EAC77A928E47}" presName="aNode" presStyleLbl="fgAcc1" presStyleIdx="4" presStyleCnt="5" custScaleX="131805" custLinFactY="26750" custLinFactNeighborX="814" custLinFactNeighborY="10000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1B401F5-F8F5-46F7-A84C-72B08FA2036B}" type="pres">
      <dgm:prSet presAssocID="{FF0D945F-54E6-474D-886F-EAC77A928E47}" presName="aSpace" presStyleCnt="0"/>
      <dgm:spPr/>
    </dgm:pt>
  </dgm:ptLst>
  <dgm:cxnLst>
    <dgm:cxn modelId="{C689E6D0-D01B-4462-BFB8-519DC68879CD}" srcId="{44690AC0-7834-4982-8F03-FDB40ABB1367}" destId="{914AFB87-8A09-47B0-92ED-BC4A328FBAA1}" srcOrd="1" destOrd="0" parTransId="{98B2488E-A77B-481B-9023-042FA2EBB52A}" sibTransId="{08E9B183-0D9E-4772-87C7-C09CB0672721}"/>
    <dgm:cxn modelId="{470931F5-A980-4F8B-AFB9-68E28D4FC0D8}" type="presOf" srcId="{FF0D945F-54E6-474D-886F-EAC77A928E47}" destId="{9FAA0CCE-FA29-4B78-B0DA-166110E54128}" srcOrd="0" destOrd="0" presId="urn:microsoft.com/office/officeart/2005/8/layout/pyramid2"/>
    <dgm:cxn modelId="{9D59FF00-EC9C-47D8-8558-DB0699322E07}" type="presOf" srcId="{914AFB87-8A09-47B0-92ED-BC4A328FBAA1}" destId="{4944F435-035C-41C6-ABB0-24D66B2BE151}" srcOrd="0" destOrd="0" presId="urn:microsoft.com/office/officeart/2005/8/layout/pyramid2"/>
    <dgm:cxn modelId="{C02A72C0-99C4-4C0A-92F6-395D759E115B}" srcId="{44690AC0-7834-4982-8F03-FDB40ABB1367}" destId="{80107A3B-D934-44E2-AEA7-8D601B307862}" srcOrd="2" destOrd="0" parTransId="{B6F7DF27-7E70-40BA-AC78-FC7A58B40D04}" sibTransId="{FDE3EADA-9AA5-4319-AEB3-29A8EF27A833}"/>
    <dgm:cxn modelId="{56CD1436-9CC6-4722-8AE8-6130F3E1E5F8}" type="presOf" srcId="{44690AC0-7834-4982-8F03-FDB40ABB1367}" destId="{E82AC670-6FD7-42FD-A8EB-F17939F352C9}" srcOrd="0" destOrd="0" presId="urn:microsoft.com/office/officeart/2005/8/layout/pyramid2"/>
    <dgm:cxn modelId="{A907331A-ADA7-4B38-AA02-A74F510A6E04}" srcId="{44690AC0-7834-4982-8F03-FDB40ABB1367}" destId="{2149C21F-B584-48A8-AE26-73BCB28C5E34}" srcOrd="3" destOrd="0" parTransId="{862087E2-9FB0-4EDD-95A8-8777EE080209}" sibTransId="{C4A062E4-5E06-4AB5-B157-35A40CB94AA6}"/>
    <dgm:cxn modelId="{EC44C4B5-BDBB-49E9-A4E1-A437E990EC75}" srcId="{44690AC0-7834-4982-8F03-FDB40ABB1367}" destId="{EF94B739-61FB-43C0-94DD-FCC2D6311FAE}" srcOrd="0" destOrd="0" parTransId="{4E501EFE-8C0B-4378-B81E-3D250CB81380}" sibTransId="{E8C446D8-8EE3-4BA5-B07E-4719466F11F6}"/>
    <dgm:cxn modelId="{0822144D-5AF6-4CC3-BF0D-78BBA7C1353F}" type="presOf" srcId="{2149C21F-B584-48A8-AE26-73BCB28C5E34}" destId="{CF655F10-C398-4E9B-85C3-D4B26CF620C2}" srcOrd="0" destOrd="0" presId="urn:microsoft.com/office/officeart/2005/8/layout/pyramid2"/>
    <dgm:cxn modelId="{8195C57A-6D82-4CE2-B2E8-67148EF683A7}" type="presOf" srcId="{EF94B739-61FB-43C0-94DD-FCC2D6311FAE}" destId="{C26A787B-6781-4293-A3A8-8A93DEA09EF7}" srcOrd="0" destOrd="0" presId="urn:microsoft.com/office/officeart/2005/8/layout/pyramid2"/>
    <dgm:cxn modelId="{FB257A96-63B1-483D-A558-A5E459B5F9D6}" type="presOf" srcId="{80107A3B-D934-44E2-AEA7-8D601B307862}" destId="{812B48B9-FDCF-43F4-855D-A0F1EE321ACB}" srcOrd="0" destOrd="0" presId="urn:microsoft.com/office/officeart/2005/8/layout/pyramid2"/>
    <dgm:cxn modelId="{ED32F848-AD2A-422B-953F-F2D44AF78CDB}" srcId="{44690AC0-7834-4982-8F03-FDB40ABB1367}" destId="{FF0D945F-54E6-474D-886F-EAC77A928E47}" srcOrd="4" destOrd="0" parTransId="{660555BD-D509-46B0-B054-19A595CE5075}" sibTransId="{C0A516D2-FC37-46CE-B6A2-990DDF2D155C}"/>
    <dgm:cxn modelId="{DA0A4B7E-FC24-424E-97DE-B0C11B8366CE}" type="presParOf" srcId="{E82AC670-6FD7-42FD-A8EB-F17939F352C9}" destId="{6A824E06-F65C-4F39-B69F-749691EA790F}" srcOrd="0" destOrd="0" presId="urn:microsoft.com/office/officeart/2005/8/layout/pyramid2"/>
    <dgm:cxn modelId="{35B97C05-4284-4B6D-8464-7EF382BC57E5}" type="presParOf" srcId="{E82AC670-6FD7-42FD-A8EB-F17939F352C9}" destId="{8C1D5FCC-A212-4267-9E16-AE968AE3D2D8}" srcOrd="1" destOrd="0" presId="urn:microsoft.com/office/officeart/2005/8/layout/pyramid2"/>
    <dgm:cxn modelId="{14B434A4-6B1B-4100-A904-B3C390903259}" type="presParOf" srcId="{8C1D5FCC-A212-4267-9E16-AE968AE3D2D8}" destId="{C26A787B-6781-4293-A3A8-8A93DEA09EF7}" srcOrd="0" destOrd="0" presId="urn:microsoft.com/office/officeart/2005/8/layout/pyramid2"/>
    <dgm:cxn modelId="{53F354D8-26BC-43F0-9527-71A957844A83}" type="presParOf" srcId="{8C1D5FCC-A212-4267-9E16-AE968AE3D2D8}" destId="{8FF2A280-709C-45B7-8D9C-ABDE2EA7EC70}" srcOrd="1" destOrd="0" presId="urn:microsoft.com/office/officeart/2005/8/layout/pyramid2"/>
    <dgm:cxn modelId="{3B4EF682-6E5A-410C-868A-21A73DA7A6D3}" type="presParOf" srcId="{8C1D5FCC-A212-4267-9E16-AE968AE3D2D8}" destId="{4944F435-035C-41C6-ABB0-24D66B2BE151}" srcOrd="2" destOrd="0" presId="urn:microsoft.com/office/officeart/2005/8/layout/pyramid2"/>
    <dgm:cxn modelId="{71C721B7-6746-4332-B45F-BFC61B904155}" type="presParOf" srcId="{8C1D5FCC-A212-4267-9E16-AE968AE3D2D8}" destId="{21033BDA-A0E6-40BE-BFF9-40FF3D47DA62}" srcOrd="3" destOrd="0" presId="urn:microsoft.com/office/officeart/2005/8/layout/pyramid2"/>
    <dgm:cxn modelId="{5052B8DF-0992-4814-82EF-628370350944}" type="presParOf" srcId="{8C1D5FCC-A212-4267-9E16-AE968AE3D2D8}" destId="{812B48B9-FDCF-43F4-855D-A0F1EE321ACB}" srcOrd="4" destOrd="0" presId="urn:microsoft.com/office/officeart/2005/8/layout/pyramid2"/>
    <dgm:cxn modelId="{5210233F-CF7D-4507-8CD3-E8604BF595F4}" type="presParOf" srcId="{8C1D5FCC-A212-4267-9E16-AE968AE3D2D8}" destId="{B5FDDA94-8375-4BCA-BE65-82691EEC16DD}" srcOrd="5" destOrd="0" presId="urn:microsoft.com/office/officeart/2005/8/layout/pyramid2"/>
    <dgm:cxn modelId="{358865A4-7D89-4D12-8165-701ADAC84E8D}" type="presParOf" srcId="{8C1D5FCC-A212-4267-9E16-AE968AE3D2D8}" destId="{CF655F10-C398-4E9B-85C3-D4B26CF620C2}" srcOrd="6" destOrd="0" presId="urn:microsoft.com/office/officeart/2005/8/layout/pyramid2"/>
    <dgm:cxn modelId="{C8A36275-2891-4977-9820-D1A83C2F9453}" type="presParOf" srcId="{8C1D5FCC-A212-4267-9E16-AE968AE3D2D8}" destId="{BEAE06B3-08B4-470F-B7D5-272B5024054E}" srcOrd="7" destOrd="0" presId="urn:microsoft.com/office/officeart/2005/8/layout/pyramid2"/>
    <dgm:cxn modelId="{9F65F675-11AA-4E54-8C5D-C214C6C7F6DA}" type="presParOf" srcId="{8C1D5FCC-A212-4267-9E16-AE968AE3D2D8}" destId="{9FAA0CCE-FA29-4B78-B0DA-166110E54128}" srcOrd="8" destOrd="0" presId="urn:microsoft.com/office/officeart/2005/8/layout/pyramid2"/>
    <dgm:cxn modelId="{4DB3D295-F5A3-493C-A327-A082A2A057D2}" type="presParOf" srcId="{8C1D5FCC-A212-4267-9E16-AE968AE3D2D8}" destId="{91B401F5-F8F5-46F7-A84C-72B08FA2036B}" srcOrd="9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01F5B4B-3D9C-4F3B-BC13-851EA14E751E}" type="doc">
      <dgm:prSet loTypeId="urn:microsoft.com/office/officeart/2005/8/layout/vList3" loCatId="list" qsTypeId="urn:microsoft.com/office/officeart/2005/8/quickstyle/3d1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2A80DD3-BB07-4805-AF23-C0174DA03D9F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400" b="1" dirty="0">
              <a:solidFill>
                <a:schemeClr val="tx1"/>
              </a:solidFill>
            </a:rPr>
            <a:t>Environmental </a:t>
          </a:r>
          <a:r>
            <a:rPr lang="en-US" sz="1400" b="1" baseline="0" dirty="0">
              <a:solidFill>
                <a:schemeClr val="tx1"/>
              </a:solidFill>
            </a:rPr>
            <a:t>Benefits</a:t>
          </a:r>
          <a:r>
            <a:rPr lang="en-US" sz="1400" dirty="0">
              <a:solidFill>
                <a:schemeClr val="tx1"/>
              </a:solidFill>
            </a:rPr>
            <a:t>:</a:t>
          </a:r>
          <a:endParaRPr lang="en-IN" sz="1400" dirty="0">
            <a:solidFill>
              <a:schemeClr val="tx1"/>
            </a:solidFill>
          </a:endParaRPr>
        </a:p>
      </dgm:t>
    </dgm:pt>
    <dgm:pt modelId="{9419CE6B-0671-4A2A-8C7F-54B22A4D54A5}" type="parTrans" cxnId="{5692A3AF-4DE4-4417-A3F0-5677463334F4}">
      <dgm:prSet/>
      <dgm:spPr/>
      <dgm:t>
        <a:bodyPr/>
        <a:lstStyle/>
        <a:p>
          <a:endParaRPr lang="en-US"/>
        </a:p>
      </dgm:t>
    </dgm:pt>
    <dgm:pt modelId="{CBD5B3F8-7976-47E2-AA46-8C06ACD8B012}" type="sibTrans" cxnId="{5692A3AF-4DE4-4417-A3F0-5677463334F4}">
      <dgm:prSet/>
      <dgm:spPr/>
      <dgm:t>
        <a:bodyPr/>
        <a:lstStyle/>
        <a:p>
          <a:endParaRPr lang="en-US"/>
        </a:p>
      </dgm:t>
    </dgm:pt>
    <dgm:pt modelId="{D01664F1-F54B-4640-B250-4304BCC6D93A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Encourages sustainable farming practices</a:t>
          </a:r>
          <a:endParaRPr lang="en-IN" sz="1200" dirty="0">
            <a:solidFill>
              <a:schemeClr val="tx1"/>
            </a:solidFill>
          </a:endParaRPr>
        </a:p>
      </dgm:t>
    </dgm:pt>
    <dgm:pt modelId="{328CCDA1-4B67-43A3-BE95-65F0CBD711FF}" type="parTrans" cxnId="{FB7BE22D-EEA2-4D6B-B6DE-655DD70EAE36}">
      <dgm:prSet/>
      <dgm:spPr/>
      <dgm:t>
        <a:bodyPr/>
        <a:lstStyle/>
        <a:p>
          <a:endParaRPr lang="en-US"/>
        </a:p>
      </dgm:t>
    </dgm:pt>
    <dgm:pt modelId="{2E41E04C-3178-4CDB-B20E-1F6DC2799A61}" type="sibTrans" cxnId="{FB7BE22D-EEA2-4D6B-B6DE-655DD70EAE36}">
      <dgm:prSet/>
      <dgm:spPr/>
      <dgm:t>
        <a:bodyPr/>
        <a:lstStyle/>
        <a:p>
          <a:endParaRPr lang="en-US"/>
        </a:p>
      </dgm:t>
    </dgm:pt>
    <dgm:pt modelId="{44468BC0-A150-4AED-8A06-DBDBA2377F92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Promotes crop diversification to maintain soil fertility.</a:t>
          </a:r>
          <a:endParaRPr lang="en-IN" sz="1200" dirty="0">
            <a:solidFill>
              <a:schemeClr val="tx1"/>
            </a:solidFill>
          </a:endParaRPr>
        </a:p>
      </dgm:t>
    </dgm:pt>
    <dgm:pt modelId="{7EB9674D-8CD4-496B-9692-5AD51B132270}" type="parTrans" cxnId="{49CBB4DD-200A-49A2-9644-B876625031A5}">
      <dgm:prSet/>
      <dgm:spPr/>
      <dgm:t>
        <a:bodyPr/>
        <a:lstStyle/>
        <a:p>
          <a:endParaRPr lang="en-US"/>
        </a:p>
      </dgm:t>
    </dgm:pt>
    <dgm:pt modelId="{E21DE5F2-8DCD-4813-A6A6-5841722A4B5B}" type="sibTrans" cxnId="{49CBB4DD-200A-49A2-9644-B876625031A5}">
      <dgm:prSet/>
      <dgm:spPr/>
      <dgm:t>
        <a:bodyPr/>
        <a:lstStyle/>
        <a:p>
          <a:endParaRPr lang="en-US"/>
        </a:p>
      </dgm:t>
    </dgm:pt>
    <dgm:pt modelId="{73D02892-0BC6-4317-8AAE-DEFF29C3F940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Helps in efficient water management through weather-based irrigation advice.</a:t>
          </a:r>
          <a:endParaRPr lang="en-IN" sz="1200" dirty="0">
            <a:solidFill>
              <a:schemeClr val="tx1"/>
            </a:solidFill>
          </a:endParaRPr>
        </a:p>
      </dgm:t>
    </dgm:pt>
    <dgm:pt modelId="{6A0C7CB2-C5FF-4996-91ED-3930E53E92C6}" type="parTrans" cxnId="{0AF9D26C-4F47-40D2-B233-5A2A8E1B0A69}">
      <dgm:prSet/>
      <dgm:spPr/>
      <dgm:t>
        <a:bodyPr/>
        <a:lstStyle/>
        <a:p>
          <a:endParaRPr lang="en-US"/>
        </a:p>
      </dgm:t>
    </dgm:pt>
    <dgm:pt modelId="{FFD7082C-278A-40BA-A4C4-8AD2B0569636}" type="sibTrans" cxnId="{0AF9D26C-4F47-40D2-B233-5A2A8E1B0A69}">
      <dgm:prSet/>
      <dgm:spPr/>
      <dgm:t>
        <a:bodyPr/>
        <a:lstStyle/>
        <a:p>
          <a:endParaRPr lang="en-US"/>
        </a:p>
      </dgm:t>
    </dgm:pt>
    <dgm:pt modelId="{9F294AF2-84A7-4245-A4BB-D7B8249528D1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Reduces environmental impact by minimizing resource wastage</a:t>
          </a:r>
          <a:r>
            <a:rPr lang="en-US" sz="1000" dirty="0"/>
            <a:t>.</a:t>
          </a:r>
          <a:endParaRPr lang="en-IN" sz="1000" dirty="0"/>
        </a:p>
      </dgm:t>
    </dgm:pt>
    <dgm:pt modelId="{34802C49-B8BA-4471-AD0D-40C12DEA4D0F}" type="parTrans" cxnId="{919E5BE1-D7AA-45BB-83F4-D4959C49A8E5}">
      <dgm:prSet/>
      <dgm:spPr/>
      <dgm:t>
        <a:bodyPr/>
        <a:lstStyle/>
        <a:p>
          <a:endParaRPr lang="en-US"/>
        </a:p>
      </dgm:t>
    </dgm:pt>
    <dgm:pt modelId="{CE378C69-E0BC-4C31-933C-2342485810A2}" type="sibTrans" cxnId="{919E5BE1-D7AA-45BB-83F4-D4959C49A8E5}">
      <dgm:prSet/>
      <dgm:spPr/>
      <dgm:t>
        <a:bodyPr/>
        <a:lstStyle/>
        <a:p>
          <a:endParaRPr lang="en-US"/>
        </a:p>
      </dgm:t>
    </dgm:pt>
    <dgm:pt modelId="{9BC80C3D-812D-468B-980E-210362F468DF}">
      <dgm:prSet custT="1"/>
      <dgm:spPr>
        <a:solidFill>
          <a:srgbClr val="C0E399"/>
        </a:solidFill>
      </dgm:spPr>
      <dgm:t>
        <a:bodyPr/>
        <a:lstStyle/>
        <a:p>
          <a:pPr rtl="0"/>
          <a:r>
            <a:rPr lang="en-US" sz="1200" dirty="0">
              <a:solidFill>
                <a:schemeClr val="tx1"/>
              </a:solidFill>
            </a:rPr>
            <a:t> reducing overuse of chemicals.</a:t>
          </a:r>
          <a:endParaRPr lang="en-IN" sz="1200" dirty="0">
            <a:solidFill>
              <a:schemeClr val="tx1"/>
            </a:solidFill>
          </a:endParaRPr>
        </a:p>
      </dgm:t>
    </dgm:pt>
    <dgm:pt modelId="{F06C818C-1DEB-42B6-98EA-1C3074C91B70}" type="parTrans" cxnId="{BD9E912D-E415-4AE5-81E1-615544E25029}">
      <dgm:prSet/>
      <dgm:spPr/>
      <dgm:t>
        <a:bodyPr/>
        <a:lstStyle/>
        <a:p>
          <a:endParaRPr lang="en-IN"/>
        </a:p>
      </dgm:t>
    </dgm:pt>
    <dgm:pt modelId="{98FEE32E-F59D-4878-AFF7-EC12797D95F5}" type="sibTrans" cxnId="{BD9E912D-E415-4AE5-81E1-615544E25029}">
      <dgm:prSet/>
      <dgm:spPr/>
      <dgm:t>
        <a:bodyPr/>
        <a:lstStyle/>
        <a:p>
          <a:endParaRPr lang="en-IN"/>
        </a:p>
      </dgm:t>
    </dgm:pt>
    <dgm:pt modelId="{D86AD483-5003-48FC-9511-636CA19B85F9}" type="pres">
      <dgm:prSet presAssocID="{B01F5B4B-3D9C-4F3B-BC13-851EA14E751E}" presName="linearFlow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C429BDE-4ABB-4DE9-A151-EC716B54B6DD}" type="pres">
      <dgm:prSet presAssocID="{E2A80DD3-BB07-4805-AF23-C0174DA03D9F}" presName="composite" presStyleCnt="0"/>
      <dgm:spPr/>
    </dgm:pt>
    <dgm:pt modelId="{73974ABB-CCFA-4F0B-8331-B6A25907174C}" type="pres">
      <dgm:prSet presAssocID="{E2A80DD3-BB07-4805-AF23-C0174DA03D9F}" presName="imgShp" presStyleLbl="fgImgPlace1" presStyleIdx="0" presStyleCnt="1" custAng="60000" custScaleX="105245" custScaleY="76992" custLinFactNeighborY="21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</dgm:spPr>
    </dgm:pt>
    <dgm:pt modelId="{486F748C-F65D-492F-98B7-95F14534F75F}" type="pres">
      <dgm:prSet presAssocID="{E2A80DD3-BB07-4805-AF23-C0174DA03D9F}" presName="txShp" presStyleLbl="node1" presStyleIdx="0" presStyleCnt="1" custScaleX="119835" custScaleY="31199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AF9D26C-4F47-40D2-B233-5A2A8E1B0A69}" srcId="{E2A80DD3-BB07-4805-AF23-C0174DA03D9F}" destId="{73D02892-0BC6-4317-8AAE-DEFF29C3F940}" srcOrd="3" destOrd="0" parTransId="{6A0C7CB2-C5FF-4996-91ED-3930E53E92C6}" sibTransId="{FFD7082C-278A-40BA-A4C4-8AD2B0569636}"/>
    <dgm:cxn modelId="{3A9A381C-32EC-4986-B713-9A0399D6E1AD}" type="presOf" srcId="{44468BC0-A150-4AED-8A06-DBDBA2377F92}" destId="{486F748C-F65D-492F-98B7-95F14534F75F}" srcOrd="0" destOrd="3" presId="urn:microsoft.com/office/officeart/2005/8/layout/vList3"/>
    <dgm:cxn modelId="{5692A3AF-4DE4-4417-A3F0-5677463334F4}" srcId="{B01F5B4B-3D9C-4F3B-BC13-851EA14E751E}" destId="{E2A80DD3-BB07-4805-AF23-C0174DA03D9F}" srcOrd="0" destOrd="0" parTransId="{9419CE6B-0671-4A2A-8C7F-54B22A4D54A5}" sibTransId="{CBD5B3F8-7976-47E2-AA46-8C06ACD8B012}"/>
    <dgm:cxn modelId="{930FACD8-3728-4006-94A7-F924F108EAE5}" type="presOf" srcId="{9BC80C3D-812D-468B-980E-210362F468DF}" destId="{486F748C-F65D-492F-98B7-95F14534F75F}" srcOrd="0" destOrd="2" presId="urn:microsoft.com/office/officeart/2005/8/layout/vList3"/>
    <dgm:cxn modelId="{BD9E912D-E415-4AE5-81E1-615544E25029}" srcId="{E2A80DD3-BB07-4805-AF23-C0174DA03D9F}" destId="{9BC80C3D-812D-468B-980E-210362F468DF}" srcOrd="1" destOrd="0" parTransId="{F06C818C-1DEB-42B6-98EA-1C3074C91B70}" sibTransId="{98FEE32E-F59D-4878-AFF7-EC12797D95F5}"/>
    <dgm:cxn modelId="{919E5BE1-D7AA-45BB-83F4-D4959C49A8E5}" srcId="{E2A80DD3-BB07-4805-AF23-C0174DA03D9F}" destId="{9F294AF2-84A7-4245-A4BB-D7B8249528D1}" srcOrd="4" destOrd="0" parTransId="{34802C49-B8BA-4471-AD0D-40C12DEA4D0F}" sibTransId="{CE378C69-E0BC-4C31-933C-2342485810A2}"/>
    <dgm:cxn modelId="{CF43A14A-BB4C-4178-8D30-4D6EA520DA5E}" type="presOf" srcId="{D01664F1-F54B-4640-B250-4304BCC6D93A}" destId="{486F748C-F65D-492F-98B7-95F14534F75F}" srcOrd="0" destOrd="1" presId="urn:microsoft.com/office/officeart/2005/8/layout/vList3"/>
    <dgm:cxn modelId="{A57A6ADD-DA2C-4222-ACEB-A092ECC64341}" type="presOf" srcId="{9F294AF2-84A7-4245-A4BB-D7B8249528D1}" destId="{486F748C-F65D-492F-98B7-95F14534F75F}" srcOrd="0" destOrd="5" presId="urn:microsoft.com/office/officeart/2005/8/layout/vList3"/>
    <dgm:cxn modelId="{EB6C36A1-C7D7-4260-9479-706191503A60}" type="presOf" srcId="{B01F5B4B-3D9C-4F3B-BC13-851EA14E751E}" destId="{D86AD483-5003-48FC-9511-636CA19B85F9}" srcOrd="0" destOrd="0" presId="urn:microsoft.com/office/officeart/2005/8/layout/vList3"/>
    <dgm:cxn modelId="{1854330B-719A-4DAF-86E0-4F5D1B27AA8E}" type="presOf" srcId="{73D02892-0BC6-4317-8AAE-DEFF29C3F940}" destId="{486F748C-F65D-492F-98B7-95F14534F75F}" srcOrd="0" destOrd="4" presId="urn:microsoft.com/office/officeart/2005/8/layout/vList3"/>
    <dgm:cxn modelId="{FB7BE22D-EEA2-4D6B-B6DE-655DD70EAE36}" srcId="{E2A80DD3-BB07-4805-AF23-C0174DA03D9F}" destId="{D01664F1-F54B-4640-B250-4304BCC6D93A}" srcOrd="0" destOrd="0" parTransId="{328CCDA1-4B67-43A3-BE95-65F0CBD711FF}" sibTransId="{2E41E04C-3178-4CDB-B20E-1F6DC2799A61}"/>
    <dgm:cxn modelId="{DE2AC49C-C7CB-46F0-8E0D-29C6209D339B}" type="presOf" srcId="{E2A80DD3-BB07-4805-AF23-C0174DA03D9F}" destId="{486F748C-F65D-492F-98B7-95F14534F75F}" srcOrd="0" destOrd="0" presId="urn:microsoft.com/office/officeart/2005/8/layout/vList3"/>
    <dgm:cxn modelId="{49CBB4DD-200A-49A2-9644-B876625031A5}" srcId="{E2A80DD3-BB07-4805-AF23-C0174DA03D9F}" destId="{44468BC0-A150-4AED-8A06-DBDBA2377F92}" srcOrd="2" destOrd="0" parTransId="{7EB9674D-8CD4-496B-9692-5AD51B132270}" sibTransId="{E21DE5F2-8DCD-4813-A6A6-5841722A4B5B}"/>
    <dgm:cxn modelId="{99E30EEE-DB15-42D3-A7A7-64AC36B42EDA}" type="presParOf" srcId="{D86AD483-5003-48FC-9511-636CA19B85F9}" destId="{6C429BDE-4ABB-4DE9-A151-EC716B54B6DD}" srcOrd="0" destOrd="0" presId="urn:microsoft.com/office/officeart/2005/8/layout/vList3"/>
    <dgm:cxn modelId="{A4EA7FB3-DFF0-46B7-9F6A-B138695D3284}" type="presParOf" srcId="{6C429BDE-4ABB-4DE9-A151-EC716B54B6DD}" destId="{73974ABB-CCFA-4F0B-8331-B6A25907174C}" srcOrd="0" destOrd="0" presId="urn:microsoft.com/office/officeart/2005/8/layout/vList3"/>
    <dgm:cxn modelId="{8E694680-9149-42F8-B7F6-00D5094DF6CC}" type="presParOf" srcId="{6C429BDE-4ABB-4DE9-A151-EC716B54B6DD}" destId="{486F748C-F65D-492F-98B7-95F14534F75F}" srcOrd="1" destOrd="0" presId="urn:microsoft.com/office/officeart/2005/8/layout/vList3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E176B1-D997-4818-9582-ABD62790C9CB}">
      <dsp:nvSpPr>
        <dsp:cNvPr id="0" name=""/>
        <dsp:cNvSpPr/>
      </dsp:nvSpPr>
      <dsp:spPr>
        <a:xfrm>
          <a:off x="1319961" y="12252"/>
          <a:ext cx="1522410" cy="1522410"/>
        </a:xfrm>
        <a:prstGeom prst="ellipse">
          <a:avLst/>
        </a:prstGeom>
        <a:solidFill>
          <a:srgbClr val="9BBB59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/>
            <a:t>Social Benefits</a:t>
          </a:r>
          <a:r>
            <a:rPr lang="en-US" sz="1900" kern="1200" dirty="0"/>
            <a:t>:</a:t>
          </a:r>
          <a:endParaRPr lang="en-IN" sz="1900" kern="1200" dirty="0"/>
        </a:p>
      </dsp:txBody>
      <dsp:txXfrm>
        <a:off x="1495624" y="217192"/>
        <a:ext cx="1171084" cy="483072"/>
      </dsp:txXfrm>
    </dsp:sp>
    <dsp:sp modelId="{DDA2BD0D-E5D8-4270-A44C-84CAB6D596BB}">
      <dsp:nvSpPr>
        <dsp:cNvPr id="0" name=""/>
        <dsp:cNvSpPr/>
      </dsp:nvSpPr>
      <dsp:spPr>
        <a:xfrm>
          <a:off x="1813675" y="527585"/>
          <a:ext cx="1785939" cy="1522410"/>
        </a:xfrm>
        <a:prstGeom prst="ellipse">
          <a:avLst/>
        </a:prstGeom>
        <a:solidFill>
          <a:srgbClr val="FFFF00">
            <a:alpha val="50000"/>
          </a:srgb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Promotes digital inclusion by providing easy-to-use, multilingual, and voice-enabled features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2775335" y="703247"/>
        <a:ext cx="686899" cy="1171084"/>
      </dsp:txXfrm>
    </dsp:sp>
    <dsp:sp modelId="{EBF27D10-FBB3-471A-85EB-0F6B0895EAC9}">
      <dsp:nvSpPr>
        <dsp:cNvPr id="0" name=""/>
        <dsp:cNvSpPr/>
      </dsp:nvSpPr>
      <dsp:spPr>
        <a:xfrm>
          <a:off x="1369668" y="1326973"/>
          <a:ext cx="1522410" cy="1600738"/>
        </a:xfrm>
        <a:prstGeom prst="ellipse">
          <a:avLst/>
        </a:prstGeom>
        <a:solidFill>
          <a:srgbClr val="FFDB69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00" kern="1200" dirty="0"/>
            <a:t>Builds stronger farmer communities through shared knowledge and expert-farmer interaction.</a:t>
          </a:r>
          <a:endParaRPr lang="en-IN" sz="1000" kern="1200" dirty="0"/>
        </a:p>
      </dsp:txBody>
      <dsp:txXfrm>
        <a:off x="1545330" y="2204301"/>
        <a:ext cx="1171084" cy="507926"/>
      </dsp:txXfrm>
    </dsp:sp>
    <dsp:sp modelId="{3B53A76D-B3E2-4D25-B9A8-406495A63D86}">
      <dsp:nvSpPr>
        <dsp:cNvPr id="0" name=""/>
        <dsp:cNvSpPr/>
      </dsp:nvSpPr>
      <dsp:spPr>
        <a:xfrm>
          <a:off x="497863" y="608942"/>
          <a:ext cx="1906301" cy="1522410"/>
        </a:xfrm>
        <a:prstGeom prst="ellipse">
          <a:avLst/>
        </a:prstGeom>
        <a:solidFill>
          <a:schemeClr val="accent5">
            <a:alpha val="50000"/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66725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/>
            <a:t>Reduces stress among farmers by offering instant support for farming challenges</a:t>
          </a:r>
          <a:r>
            <a:rPr lang="en-US" sz="900" kern="1200" dirty="0"/>
            <a:t>.</a:t>
          </a:r>
          <a:endParaRPr lang="en-IN" sz="900" kern="1200" dirty="0"/>
        </a:p>
      </dsp:txBody>
      <dsp:txXfrm>
        <a:off x="644501" y="784605"/>
        <a:ext cx="733192" cy="117108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824E06-F65C-4F39-B69F-749691EA790F}">
      <dsp:nvSpPr>
        <dsp:cNvPr id="0" name=""/>
        <dsp:cNvSpPr/>
      </dsp:nvSpPr>
      <dsp:spPr>
        <a:xfrm>
          <a:off x="462322" y="0"/>
          <a:ext cx="2079256" cy="3232507"/>
        </a:xfrm>
        <a:prstGeom prst="triangle">
          <a:avLst/>
        </a:prstGeom>
        <a:solidFill>
          <a:srgbClr val="A8D4AD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6A787B-6781-4293-A3A8-8A93DEA09EF7}">
      <dsp:nvSpPr>
        <dsp:cNvPr id="0" name=""/>
        <dsp:cNvSpPr/>
      </dsp:nvSpPr>
      <dsp:spPr>
        <a:xfrm>
          <a:off x="1501951" y="324364"/>
          <a:ext cx="1423968" cy="426160"/>
        </a:xfrm>
        <a:prstGeom prst="roundRect">
          <a:avLst/>
        </a:prstGeom>
        <a:solidFill>
          <a:schemeClr val="bg2">
            <a:lumMod val="75000"/>
            <a:alpha val="9000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/>
            <a:t>Economic Benefits</a:t>
          </a:r>
          <a:r>
            <a:rPr lang="en-US" sz="1400" kern="1200" dirty="0"/>
            <a:t>:</a:t>
          </a:r>
          <a:endParaRPr lang="en-IN" sz="1400" kern="1200" dirty="0"/>
        </a:p>
      </dsp:txBody>
      <dsp:txXfrm>
        <a:off x="1522754" y="345167"/>
        <a:ext cx="1382362" cy="384554"/>
      </dsp:txXfrm>
    </dsp:sp>
    <dsp:sp modelId="{4944F435-035C-41C6-ABB0-24D66B2BE151}">
      <dsp:nvSpPr>
        <dsp:cNvPr id="0" name=""/>
        <dsp:cNvSpPr/>
      </dsp:nvSpPr>
      <dsp:spPr>
        <a:xfrm>
          <a:off x="1339932" y="837153"/>
          <a:ext cx="1824018" cy="426160"/>
        </a:xfrm>
        <a:prstGeom prst="roundRect">
          <a:avLst/>
        </a:prstGeom>
        <a:solidFill>
          <a:srgbClr val="FFFF00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Increases crop yield and productivity through better farming practices.</a:t>
          </a:r>
          <a:endParaRPr lang="en-IN" sz="1200" kern="1200" dirty="0"/>
        </a:p>
      </dsp:txBody>
      <dsp:txXfrm>
        <a:off x="1360735" y="857956"/>
        <a:ext cx="1782412" cy="384554"/>
      </dsp:txXfrm>
    </dsp:sp>
    <dsp:sp modelId="{812B48B9-FDCF-43F4-855D-A0F1EE321ACB}">
      <dsp:nvSpPr>
        <dsp:cNvPr id="0" name=""/>
        <dsp:cNvSpPr/>
      </dsp:nvSpPr>
      <dsp:spPr>
        <a:xfrm>
          <a:off x="1302054" y="1373175"/>
          <a:ext cx="1861895" cy="426160"/>
        </a:xfrm>
        <a:prstGeom prst="roundRect">
          <a:avLst/>
        </a:prstGeom>
        <a:solidFill>
          <a:srgbClr val="FFFF93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Reduces losses caused by pest attacks, diseases, and unpredictable weather.</a:t>
          </a:r>
          <a:endParaRPr lang="en-IN" sz="1200" kern="1200" dirty="0"/>
        </a:p>
      </dsp:txBody>
      <dsp:txXfrm>
        <a:off x="1322857" y="1393978"/>
        <a:ext cx="1820289" cy="384554"/>
      </dsp:txXfrm>
    </dsp:sp>
    <dsp:sp modelId="{CF655F10-C398-4E9B-85C3-D4B26CF620C2}">
      <dsp:nvSpPr>
        <dsp:cNvPr id="0" name=""/>
        <dsp:cNvSpPr/>
      </dsp:nvSpPr>
      <dsp:spPr>
        <a:xfrm>
          <a:off x="1309686" y="1896083"/>
          <a:ext cx="1854263" cy="612784"/>
        </a:xfrm>
        <a:prstGeom prst="roundRect">
          <a:avLst/>
        </a:prstGeom>
        <a:solidFill>
          <a:srgbClr val="39B0D4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Enhances farmer income by suggesting profitable crops and connecting with markets.</a:t>
          </a:r>
          <a:endParaRPr lang="en-IN" sz="1200" kern="1200" dirty="0"/>
        </a:p>
      </dsp:txBody>
      <dsp:txXfrm>
        <a:off x="1339600" y="1925997"/>
        <a:ext cx="1794435" cy="552956"/>
      </dsp:txXfrm>
    </dsp:sp>
    <dsp:sp modelId="{9FAA0CCE-FA29-4B78-B0DA-166110E54128}">
      <dsp:nvSpPr>
        <dsp:cNvPr id="0" name=""/>
        <dsp:cNvSpPr/>
      </dsp:nvSpPr>
      <dsp:spPr>
        <a:xfrm>
          <a:off x="1287095" y="2595979"/>
          <a:ext cx="1876861" cy="426160"/>
        </a:xfrm>
        <a:prstGeom prst="roundRect">
          <a:avLst/>
        </a:prstGeom>
        <a:solidFill>
          <a:srgbClr val="FFC000">
            <a:alpha val="90000"/>
          </a:srgb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200" kern="1200" dirty="0"/>
            <a:t>Lowers costs by optimizing fertilizer, pesticide, and water usage.</a:t>
          </a:r>
          <a:endParaRPr lang="en-IN" sz="1200" kern="1200" dirty="0"/>
        </a:p>
      </dsp:txBody>
      <dsp:txXfrm>
        <a:off x="1307898" y="2616782"/>
        <a:ext cx="1835255" cy="3845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6F748C-F65D-492F-98B7-95F14534F75F}">
      <dsp:nvSpPr>
        <dsp:cNvPr id="0" name=""/>
        <dsp:cNvSpPr/>
      </dsp:nvSpPr>
      <dsp:spPr>
        <a:xfrm rot="10800000">
          <a:off x="537082" y="76198"/>
          <a:ext cx="2732579" cy="3580479"/>
        </a:xfrm>
        <a:prstGeom prst="homePlate">
          <a:avLst/>
        </a:prstGeom>
        <a:solidFill>
          <a:srgbClr val="C0E399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06057" tIns="53340" rIns="99568" bIns="53340" numCol="1" spcCol="1270" anchor="t" anchorCtr="0">
          <a:noAutofit/>
        </a:bodyPr>
        <a:lstStyle/>
        <a:p>
          <a:pPr lvl="0" algn="l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400" b="1" kern="1200" dirty="0">
              <a:solidFill>
                <a:schemeClr val="tx1"/>
              </a:solidFill>
            </a:rPr>
            <a:t>Environmental </a:t>
          </a:r>
          <a:r>
            <a:rPr lang="en-US" sz="1400" b="1" kern="1200" baseline="0" dirty="0">
              <a:solidFill>
                <a:schemeClr val="tx1"/>
              </a:solidFill>
            </a:rPr>
            <a:t>Benefits</a:t>
          </a:r>
          <a:r>
            <a:rPr lang="en-US" sz="1400" kern="1200" dirty="0">
              <a:solidFill>
                <a:schemeClr val="tx1"/>
              </a:solidFill>
            </a:rPr>
            <a:t>:</a:t>
          </a:r>
          <a:endParaRPr lang="en-IN" sz="14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Encourages sustainable farming practices</a:t>
          </a:r>
          <a:endParaRPr lang="en-IN" sz="12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 reducing overuse of chemicals.</a:t>
          </a:r>
          <a:endParaRPr lang="en-IN" sz="12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Promotes crop diversification to maintain soil fertility.</a:t>
          </a:r>
          <a:endParaRPr lang="en-IN" sz="12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Helps in efficient water management through weather-based irrigation advice.</a:t>
          </a:r>
          <a:endParaRPr lang="en-IN" sz="1200" kern="1200" dirty="0">
            <a:solidFill>
              <a:schemeClr val="tx1"/>
            </a:solidFill>
          </a:endParaRPr>
        </a:p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200" kern="1200" dirty="0">
              <a:solidFill>
                <a:schemeClr val="tx1"/>
              </a:solidFill>
            </a:rPr>
            <a:t>Reduces environmental impact by minimizing resource wastage</a:t>
          </a:r>
          <a:r>
            <a:rPr lang="en-US" sz="1000" kern="1200" dirty="0"/>
            <a:t>.</a:t>
          </a:r>
          <a:endParaRPr lang="en-IN" sz="1000" kern="1200" dirty="0"/>
        </a:p>
      </dsp:txBody>
      <dsp:txXfrm rot="10800000">
        <a:off x="1220227" y="76198"/>
        <a:ext cx="2049434" cy="3580479"/>
      </dsp:txXfrm>
    </dsp:sp>
    <dsp:sp modelId="{73974ABB-CCFA-4F0B-8331-B6A25907174C}">
      <dsp:nvSpPr>
        <dsp:cNvPr id="0" name=""/>
        <dsp:cNvSpPr/>
      </dsp:nvSpPr>
      <dsp:spPr>
        <a:xfrm rot="60000">
          <a:off x="159337" y="1427105"/>
          <a:ext cx="1207784" cy="883554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000" r="-2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z="127000" prstMaterial="plastic">
          <a:bevelT w="88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3">
  <dgm:title val=""/>
  <dgm:desc val=""/>
  <dgm:catLst>
    <dgm:cat type="list" pri="14000"/>
    <dgm:cat type="convert" pri="3000"/>
    <dgm:cat type="picture" pri="27000"/>
    <dgm:cat type="pictureconvert" pri="27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alg type="lin">
      <dgm:param type="linDir" val="fromT"/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composite" refType="w"/>
      <dgm:constr type="h" for="ch" forName="composite" refType="h"/>
      <dgm:constr type="h" for="ch" forName="spacing" refType="h" refFor="ch" refForName="composite" fact="0.25"/>
      <dgm:constr type="h" for="ch" forName="spacing" refType="w" op="lte" fact="0.1"/>
      <dgm:constr type="primFontSz" for="des" ptType="node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l" for="ch" forName="imgShp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l" for="ch" forName="txShp" refType="w" refFor="ch" refForName="imgShp" fact="0.5"/>
              <dgm:constr type="lMarg" for="ch" forName="txShp" refType="w" refFor="ch" refForName="imgShp" fact="1.25"/>
            </dgm:constrLst>
          </dgm:if>
          <dgm:else name="Name3">
            <dgm:constrLst>
              <dgm:constr type="w" for="ch" forName="imgShp" refType="w" fact="0.335"/>
              <dgm:constr type="h" for="ch" forName="imgShp" refType="w" refFor="ch" refForName="imgShp" op="equ"/>
              <dgm:constr type="h" for="ch" forName="imgShp" refType="h" op="lte"/>
              <dgm:constr type="ctrY" for="ch" forName="imgShp" refType="h" fact="0.5"/>
              <dgm:constr type="r" for="ch" forName="imgShp" refType="w"/>
              <dgm:constr type="w" for="ch" forName="txShp" refType="w" op="equ" fact="0.665"/>
              <dgm:constr type="h" for="ch" forName="txShp" refType="h" refFor="ch" refForName="imgShp" op="equ"/>
              <dgm:constr type="ctrY" for="ch" forName="txShp" refType="h" fact="0.5"/>
              <dgm:constr type="r" for="ch" forName="txShp" refType="ctrX" refFor="ch" refForName="imgShp"/>
              <dgm:constr type="rMarg" for="ch" forName="txShp" refType="w" refFor="ch" refForName="imgShp" fact="1.25"/>
            </dgm:constrLst>
          </dgm:else>
        </dgm:choose>
        <dgm:ruleLst/>
        <dgm:layoutNode name="imgShp" styleLbl="fgImgPlace1">
          <dgm:alg type="sp"/>
          <dgm:shape xmlns:r="http://schemas.openxmlformats.org/officeDocument/2006/relationships" type="ellipse" r:blip="" blipPhldr="1">
            <dgm:adjLst/>
          </dgm:shape>
          <dgm:presOf/>
          <dgm:constrLst/>
          <dgm:ruleLst/>
        </dgm:layoutNode>
        <dgm:layoutNode name="txShp">
          <dgm:varLst>
            <dgm:bulletEnabled val="1"/>
          </dgm:varLst>
          <dgm:alg type="tx"/>
          <dgm:choose name="Name4">
            <dgm:if name="Name5" func="var" arg="dir" op="equ" val="norm">
              <dgm:shape xmlns:r="http://schemas.openxmlformats.org/officeDocument/2006/relationships" rot="180" type="homePlate" r:blip="" zOrderOff="-1">
                <dgm:adjLst/>
              </dgm:shape>
            </dgm:if>
            <dgm:else name="Name6">
              <dgm:shape xmlns:r="http://schemas.openxmlformats.org/officeDocument/2006/relationships" type="homePlate" r:blip="" zOrderOff="-1">
                <dgm:adjLst/>
              </dgm:shape>
            </dgm:else>
          </dgm:choose>
          <dgm:presOf axis="desOrSelf" ptType="node"/>
          <dgm:constrLst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layoutNode>
      <dgm:forEach name="Name7" axis="followSib" ptType="sibTrans" cnt="1">
        <dgm:layoutNode name="spacing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F5CC06-CEF6-491C-B932-CA959771549C}" type="datetimeFigureOut">
              <a:rPr lang="en-US" smtClean="0"/>
              <a:pPr/>
              <a:t>10/8/2025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579CD-22AC-4662-8C2F-CA08B144BC4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9746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579CD-22AC-4662-8C2F-CA08B144BC4D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668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579CD-22AC-4662-8C2F-CA08B144BC4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66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579CD-22AC-4662-8C2F-CA08B144BC4D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2668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3D555-B768-A90A-17FA-B352C59C8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84D508-C73B-D738-791C-9BE31D9E77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173B2A-4980-C6A1-B13C-78DBF88754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541A7A-7EC2-E872-E777-DF89C7E80A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579CD-22AC-4662-8C2F-CA08B144BC4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94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2905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14" r="1607"/>
          <a:stretch>
            <a:fillRect/>
          </a:stretch>
        </p:blipFill>
        <p:spPr bwMode="auto">
          <a:xfrm>
            <a:off x="8077200" y="-11113"/>
            <a:ext cx="1009650" cy="73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35" b="20657"/>
          <a:stretch>
            <a:fillRect/>
          </a:stretch>
        </p:blipFill>
        <p:spPr bwMode="auto">
          <a:xfrm>
            <a:off x="0" y="-11113"/>
            <a:ext cx="2514600" cy="533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0" y="720725"/>
            <a:ext cx="9144000" cy="152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4343400" y="6705600"/>
            <a:ext cx="4800600" cy="15240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IN" sz="900" b="1" dirty="0">
                <a:solidFill>
                  <a:schemeClr val="accent2">
                    <a:lumMod val="20000"/>
                    <a:lumOff val="80000"/>
                  </a:schemeClr>
                </a:solidFill>
                <a:latin typeface="-apple-system"/>
                <a:cs typeface="Arial" charset="0"/>
              </a:rPr>
              <a:t>                                                                                               Copyright © SMS LUCKNOW</a:t>
            </a:r>
            <a:endParaRPr lang="en-IN" sz="900" b="1" dirty="0">
              <a:solidFill>
                <a:schemeClr val="accent2">
                  <a:lumMod val="20000"/>
                  <a:lumOff val="80000"/>
                </a:schemeClr>
              </a:solidFill>
              <a:cs typeface="Arial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509588"/>
            <a:ext cx="2514600" cy="19843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www.smslucknow.ac.in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youtu.be/vqORNXzhB3s?si=uQBgPC0wqIod-cHB" TargetMode="Externa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18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17" Type="http://schemas.openxmlformats.org/officeDocument/2006/relationships/image" Target="../media/image5.png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g"/><Relationship Id="rId3" Type="http://schemas.openxmlformats.org/officeDocument/2006/relationships/hyperlink" Target="https://timesofindia.indiatimes.com/city/vijayawada/andhra-pradesh-to-fully-digitize-agriculture-from-kharif-2025/articleshow/121891066.cms?utm_source=chatgpt.com" TargetMode="External"/><Relationship Id="rId7" Type="http://schemas.openxmlformats.org/officeDocument/2006/relationships/hyperlink" Target="https://www.mdpi.com/2071-1050/17/7/3007?utm_source=chatgpt.com" TargetMode="External"/><Relationship Id="rId2" Type="http://schemas.openxmlformats.org/officeDocument/2006/relationships/hyperlink" Target="https://www.weforum.org/stories/2024/01/how-indias-ai-agriculture-boom-could-inspire-the-world/?utm_source=chatgpt.com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link.springer.com/article/10.1007/s44279-025-00190-y?utm_source=chatgpt.com" TargetMode="External"/><Relationship Id="rId11" Type="http://schemas.openxmlformats.org/officeDocument/2006/relationships/hyperlink" Target="https://youtu.be/vqORNXzhB3s?si=uQBgPC0wqIod-cHB" TargetMode="External"/><Relationship Id="rId5" Type="http://schemas.openxmlformats.org/officeDocument/2006/relationships/hyperlink" Target="https://www.indiatoday.in/amp/information/story/ai-technology-improves-indian-agriculture-yields-sustainability-2751559-2025-07-06?utm_source=chatgpt.com" TargetMode="External"/><Relationship Id="rId10" Type="http://schemas.openxmlformats.org/officeDocument/2006/relationships/image" Target="../media/image4.png"/><Relationship Id="rId4" Type="http://schemas.openxmlformats.org/officeDocument/2006/relationships/hyperlink" Target="https://en.wikipedia.org/wiki/Plantix?utm_source=chatgpt.com" TargetMode="External"/><Relationship Id="rId9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esktop\NAACAlogo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77200" y="-18852"/>
            <a:ext cx="1066800" cy="704652"/>
          </a:xfrm>
          <a:prstGeom prst="rect">
            <a:avLst/>
          </a:prstGeom>
          <a:noFill/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357158" y="1142984"/>
            <a:ext cx="850112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SCHOOL OF MANAGEMENT SCIENCES, LUCKNOW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224" y="2071678"/>
            <a:ext cx="73581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Department of Computer Science &amp; Engineering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B0100E-7535-38E5-9252-DE78A5C2D0B1}"/>
              </a:ext>
            </a:extLst>
          </p:cNvPr>
          <p:cNvSpPr txBox="1"/>
          <p:nvPr/>
        </p:nvSpPr>
        <p:spPr>
          <a:xfrm>
            <a:off x="289424" y="3276600"/>
            <a:ext cx="856885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 - Smart Crop Advisory System for Small and Marginal Farmers.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Theme - Agriculture, </a:t>
            </a:r>
            <a:r>
              <a:rPr lang="en-US" sz="1800" b="1" dirty="0" err="1">
                <a:latin typeface="Arial" panose="020B0604020202020204" pitchFamily="34" charset="0"/>
                <a:cs typeface="Arial" panose="020B0604020202020204" pitchFamily="34" charset="0"/>
              </a:rPr>
              <a:t>FoodTech</a:t>
            </a: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 &amp; Rural Development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PS Category 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8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Hack Harvesters</a:t>
            </a:r>
            <a:endParaRPr lang="en-IN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14674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5000"/>
    </mc:Choice>
    <mc:Fallback xmlns="">
      <p:transition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esktop\NAACAlogo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0999" y="0"/>
            <a:ext cx="1143001" cy="704652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FF780ED-EAF3-ABEC-0C17-2F842FF74800}"/>
              </a:ext>
            </a:extLst>
          </p:cNvPr>
          <p:cNvSpPr txBox="1"/>
          <p:nvPr/>
        </p:nvSpPr>
        <p:spPr>
          <a:xfrm>
            <a:off x="1828800" y="9144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AgriSmart: Mobile Advisory System for Farmers</a:t>
            </a:r>
            <a:endParaRPr lang="en-IN" sz="2000" dirty="0"/>
          </a:p>
        </p:txBody>
      </p:sp>
      <p:sp>
        <p:nvSpPr>
          <p:cNvPr id="8" name="Pentagon 17">
            <a:extLst>
              <a:ext uri="{FF2B5EF4-FFF2-40B4-BE49-F238E27FC236}">
                <a16:creationId xmlns:a16="http://schemas.microsoft.com/office/drawing/2014/main" id="{6D44A52F-1B3B-CCF2-7826-457BAECDC4C3}"/>
              </a:ext>
            </a:extLst>
          </p:cNvPr>
          <p:cNvSpPr/>
          <p:nvPr/>
        </p:nvSpPr>
        <p:spPr>
          <a:xfrm>
            <a:off x="166305" y="1430533"/>
            <a:ext cx="4634295" cy="1617467"/>
          </a:xfrm>
          <a:prstGeom prst="homePlat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Detail 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Explaination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Mobile-based Crop Advisory Website for small and marginal farmers.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weather updates.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Chatbot support.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on government schemes/subsidies.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 designed for easy use, even for farmers with limited literacy.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Pentagon 18">
            <a:extLst>
              <a:ext uri="{FF2B5EF4-FFF2-40B4-BE49-F238E27FC236}">
                <a16:creationId xmlns:a16="http://schemas.microsoft.com/office/drawing/2014/main" id="{EDEACA26-719B-5AD8-9DAE-2C0D3534315A}"/>
              </a:ext>
            </a:extLst>
          </p:cNvPr>
          <p:cNvSpPr/>
          <p:nvPr/>
        </p:nvSpPr>
        <p:spPr>
          <a:xfrm>
            <a:off x="166305" y="3242400"/>
            <a:ext cx="4558095" cy="1371600"/>
          </a:xfrm>
          <a:prstGeom prst="homePlate">
            <a:avLst/>
          </a:prstGeom>
          <a:solidFill>
            <a:srgbClr val="A8E6AB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How It Addresses the Problem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Offering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instant expert advice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Region-specific crop recommendations.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Confidential, accessible, and affordable guidance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without dependency on middlemen.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 </a:t>
            </a: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informed decisions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that increase yield and reduce losses.</a:t>
            </a:r>
          </a:p>
          <a:p>
            <a:pPr algn="ctr"/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Pentagon 19">
            <a:extLst>
              <a:ext uri="{FF2B5EF4-FFF2-40B4-BE49-F238E27FC236}">
                <a16:creationId xmlns:a16="http://schemas.microsoft.com/office/drawing/2014/main" id="{A679FFCD-C116-DD10-76EE-FD8507BDA285}"/>
              </a:ext>
            </a:extLst>
          </p:cNvPr>
          <p:cNvSpPr/>
          <p:nvPr/>
        </p:nvSpPr>
        <p:spPr>
          <a:xfrm>
            <a:off x="161011" y="4953000"/>
            <a:ext cx="4563389" cy="1371600"/>
          </a:xfrm>
          <a:prstGeom prst="homePlate">
            <a:avLst/>
          </a:prstGeom>
          <a:solidFill>
            <a:srgbClr val="B2F5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Innovation and Uniqueness of the Solution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+ Expert Hybrid Advisory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Farmer-Centric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End-to-End Support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Covers the full farming cycle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Government Schemes</a:t>
            </a:r>
            <a:endParaRPr 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5C5A79C-9903-99A0-BD19-F5F535C800E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798" y="1413600"/>
            <a:ext cx="4175185" cy="20132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7701F7F-8F74-FE5C-A623-6A5ED815D7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6800" y="3810000"/>
            <a:ext cx="4175185" cy="2743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B552B0-929D-4D24-5BD0-C5C0C4F57B37}"/>
              </a:ext>
            </a:extLst>
          </p:cNvPr>
          <p:cNvSpPr txBox="1"/>
          <p:nvPr/>
        </p:nvSpPr>
        <p:spPr>
          <a:xfrm>
            <a:off x="6477000" y="3521701"/>
            <a:ext cx="1298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9942983"/>
      </p:ext>
    </p:extLst>
  </p:cSld>
  <p:clrMapOvr>
    <a:masterClrMapping/>
  </p:clrMapOvr>
  <p:transition spd="slow" advClick="0" advTm="10000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esktop\NAACAlogo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0999" y="16933"/>
            <a:ext cx="1143001" cy="704652"/>
          </a:xfrm>
          <a:prstGeom prst="rect">
            <a:avLst/>
          </a:prstGeom>
          <a:noFill/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BBB73D-F9B4-3D8E-121C-8D7787F4041E}"/>
              </a:ext>
            </a:extLst>
          </p:cNvPr>
          <p:cNvSpPr txBox="1"/>
          <p:nvPr/>
        </p:nvSpPr>
        <p:spPr>
          <a:xfrm>
            <a:off x="152400" y="958334"/>
            <a:ext cx="891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181A88-97CF-3F00-D569-CD87BC7802AA}"/>
              </a:ext>
            </a:extLst>
          </p:cNvPr>
          <p:cNvSpPr/>
          <p:nvPr/>
        </p:nvSpPr>
        <p:spPr>
          <a:xfrm>
            <a:off x="152400" y="1426002"/>
            <a:ext cx="2784390" cy="12808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 algn="just">
              <a:buAutoNum type="arabicPeriod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Languages: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HTML5, CSS3,</a:t>
            </a:r>
            <a:r>
              <a:rPr lang="en-US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</a:p>
          <a:p>
            <a:pPr marL="342900" indent="-342900" algn="just">
              <a:buAutoNum type="arabicPeriod"/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Frameworks/Libraries: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React.js, Bootstrap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AD8D60A-9012-D2E8-45FD-8A693F1BE9AF}"/>
              </a:ext>
            </a:extLst>
          </p:cNvPr>
          <p:cNvSpPr/>
          <p:nvPr/>
        </p:nvSpPr>
        <p:spPr>
          <a:xfrm>
            <a:off x="135467" y="2892207"/>
            <a:ext cx="3196281" cy="125261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Backend (Server)Languages: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 (Django), Node.js(Express)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MySQL, MongoDB</a:t>
            </a:r>
          </a:p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JWT / OAuth</a:t>
            </a:r>
            <a:endParaRPr lang="en-I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358DDB-24AE-4445-DAFF-739BAF742816}"/>
              </a:ext>
            </a:extLst>
          </p:cNvPr>
          <p:cNvSpPr/>
          <p:nvPr/>
        </p:nvSpPr>
        <p:spPr>
          <a:xfrm>
            <a:off x="108216" y="4330151"/>
            <a:ext cx="4311384" cy="1673877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AI/</a:t>
            </a:r>
            <a:r>
              <a:rPr lang="en-US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MLLibraries</a:t>
            </a: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TensorFlow,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Scikit-learn, OpenCV</a:t>
            </a:r>
          </a:p>
          <a:p>
            <a:pPr algn="just"/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Cloud &amp; </a:t>
            </a:r>
            <a:r>
              <a:rPr lang="en-IN" sz="14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HostingPlatform</a:t>
            </a:r>
            <a:r>
              <a:rPr lang="en-IN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Cloud                      </a:t>
            </a:r>
          </a:p>
          <a:p>
            <a:pPr algn="just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APIs &amp;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IntegrationsWeather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OpenWeather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IMD)Government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schemesAgri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-market prices</a:t>
            </a:r>
          </a:p>
          <a:p>
            <a:pPr algn="just"/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(Future Scope)Smartphone/computer (basic access)</a:t>
            </a:r>
          </a:p>
          <a:p>
            <a:pPr algn="just"/>
            <a:r>
              <a:rPr lang="en-IN"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IoT</a:t>
            </a:r>
            <a:r>
              <a:rPr lang="en-IN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devices: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soil sensors, pH meters, weather stations</a:t>
            </a:r>
          </a:p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75048E-33B1-02A9-6C44-A7AB493CE6DA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7" b="-1"/>
          <a:stretch/>
        </p:blipFill>
        <p:spPr>
          <a:xfrm>
            <a:off x="4419600" y="1752599"/>
            <a:ext cx="4522438" cy="443542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C8E3BB-3930-BFDC-4891-A64CF0F159E5}"/>
              </a:ext>
            </a:extLst>
          </p:cNvPr>
          <p:cNvSpPr txBox="1"/>
          <p:nvPr/>
        </p:nvSpPr>
        <p:spPr>
          <a:xfrm>
            <a:off x="0" y="6271668"/>
            <a:ext cx="894203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1600" dirty="0"/>
              <a:t>Prototype link - </a:t>
            </a:r>
            <a:r>
              <a:rPr lang="nb-NO" sz="1600" dirty="0">
                <a:hlinkClick r:id="rId6"/>
              </a:rPr>
              <a:t>https://youtu.be/vqORNXzhB3s?si=uQBgPC0wqIod-cHB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049726209"/>
      </p:ext>
    </p:extLst>
  </p:cSld>
  <p:clrMapOvr>
    <a:masterClrMapping/>
  </p:clrMapOvr>
  <p:transition spd="slow" advClick="0" advTm="10000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14035-622F-1143-9EBB-EBC6B220D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esktop\NAACAlogo-1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000999" y="0"/>
            <a:ext cx="1143001" cy="704652"/>
          </a:xfrm>
          <a:prstGeom prst="rect">
            <a:avLst/>
          </a:prstGeom>
          <a:noFill/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1A9363-7136-CFD1-7775-5869B1525495}"/>
              </a:ext>
            </a:extLst>
          </p:cNvPr>
          <p:cNvSpPr txBox="1"/>
          <p:nvPr/>
        </p:nvSpPr>
        <p:spPr>
          <a:xfrm>
            <a:off x="2825304" y="914400"/>
            <a:ext cx="349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  <a:endParaRPr lang="en-IN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40EAA6E-6AB0-9C9B-ED8C-9E27172718AD}"/>
              </a:ext>
            </a:extLst>
          </p:cNvPr>
          <p:cNvSpPr/>
          <p:nvPr/>
        </p:nvSpPr>
        <p:spPr>
          <a:xfrm>
            <a:off x="76200" y="1383326"/>
            <a:ext cx="2057400" cy="214206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Analysis of the Feasibility of the Idea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Operational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Scalability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Adoption Feasibility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Economic-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Feasibiity</a:t>
            </a:r>
            <a:endParaRPr lang="en-IN" sz="12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BB9C33-49CF-7258-FDCC-03AB8A785301}"/>
              </a:ext>
            </a:extLst>
          </p:cNvPr>
          <p:cNvSpPr/>
          <p:nvPr/>
        </p:nvSpPr>
        <p:spPr>
          <a:xfrm>
            <a:off x="2235346" y="1389844"/>
            <a:ext cx="2659191" cy="2164202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Strategies for Overcoming These Challenges</a:t>
            </a:r>
            <a:endParaRPr lang="en-IN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Literacy: 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Workshops &amp; tutorials in local languages.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Access: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Limited features, sync when online.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Building: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Partner with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officers, NGOs &amp; cooperatives.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I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Sustainability: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Support via govt. schemes &amp; </a:t>
            </a:r>
            <a:r>
              <a:rPr lang="en-IN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agri</a:t>
            </a:r>
            <a:r>
              <a:rPr lang="en-I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-tech collaborations</a:t>
            </a:r>
          </a:p>
          <a:p>
            <a:pPr algn="ctr"/>
            <a:endParaRPr lang="en-IN" sz="12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F6F535-287F-BA99-0081-51DBA7F13C94}"/>
              </a:ext>
            </a:extLst>
          </p:cNvPr>
          <p:cNvSpPr/>
          <p:nvPr/>
        </p:nvSpPr>
        <p:spPr>
          <a:xfrm>
            <a:off x="67920" y="3987424"/>
            <a:ext cx="2057399" cy="2142061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Potential Challenges and Risks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Literacy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Connectivity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Accuracy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Trust Issues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Financial Viability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Language Barriers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Device Affordability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Privacy Concern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4EB066-27DD-CC2C-33D2-D018B1344D0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915" r="2216"/>
          <a:stretch>
            <a:fillRect/>
          </a:stretch>
        </p:blipFill>
        <p:spPr>
          <a:xfrm>
            <a:off x="5105400" y="1275266"/>
            <a:ext cx="3886199" cy="22501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3A37BB4-BAB3-24B2-69AA-32D9FC666C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5346" y="3987424"/>
            <a:ext cx="3308563" cy="24895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C49F4A1-2106-DC9A-A38D-AD46FC89C1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45655" y="3987424"/>
            <a:ext cx="3345944" cy="248957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EB60C4-75BF-CA53-25A0-C0898B11BE0C}"/>
              </a:ext>
            </a:extLst>
          </p:cNvPr>
          <p:cNvSpPr txBox="1"/>
          <p:nvPr/>
        </p:nvSpPr>
        <p:spPr>
          <a:xfrm>
            <a:off x="3106494" y="3724538"/>
            <a:ext cx="1298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CADE463-199C-88F5-AB01-58751D0E67F6}"/>
              </a:ext>
            </a:extLst>
          </p:cNvPr>
          <p:cNvSpPr txBox="1"/>
          <p:nvPr/>
        </p:nvSpPr>
        <p:spPr>
          <a:xfrm>
            <a:off x="6596510" y="3724537"/>
            <a:ext cx="129868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</a:t>
            </a:r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435483"/>
      </p:ext>
    </p:extLst>
  </p:cSld>
  <p:clrMapOvr>
    <a:masterClrMapping/>
  </p:clrMapOvr>
  <p:transition spd="slow" advTm="10000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C06076-0414-E438-E6C9-25502A09E9AB}"/>
              </a:ext>
            </a:extLst>
          </p:cNvPr>
          <p:cNvSpPr txBox="1"/>
          <p:nvPr/>
        </p:nvSpPr>
        <p:spPr>
          <a:xfrm>
            <a:off x="3150168" y="914400"/>
            <a:ext cx="3326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E6BCBB-A581-6CC8-9FB0-55A1D82E0257}"/>
              </a:ext>
            </a:extLst>
          </p:cNvPr>
          <p:cNvSpPr/>
          <p:nvPr/>
        </p:nvSpPr>
        <p:spPr>
          <a:xfrm>
            <a:off x="152400" y="1283732"/>
            <a:ext cx="8839200" cy="1230868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b="1" dirty="0">
                <a:solidFill>
                  <a:schemeClr val="tx1"/>
                </a:solidFill>
              </a:rPr>
              <a:t>1. Potential Impact on the Target Audience 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Empowers small and marginal farmers with timely, reliable, and personalized crop advisory.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Increases awareness about modern farming techniques and government schemes.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Improves decision-making in crop selection, pest control, and resource utilization.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Enhances farmer confidence by reducing dependency on middlemen and unverified information sources.</a:t>
            </a:r>
          </a:p>
          <a:p>
            <a:pPr algn="ctr"/>
            <a:endParaRPr lang="en-IN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C18FD6-69D0-7499-6DCE-E083E8013730}"/>
              </a:ext>
            </a:extLst>
          </p:cNvPr>
          <p:cNvSpPr/>
          <p:nvPr/>
        </p:nvSpPr>
        <p:spPr>
          <a:xfrm>
            <a:off x="152400" y="2602608"/>
            <a:ext cx="8839200" cy="29391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</a:rPr>
              <a:t>2. Benefits of the Solution :</a:t>
            </a:r>
            <a:endParaRPr lang="en-IN" sz="1400" dirty="0">
              <a:solidFill>
                <a:schemeClr val="tx1"/>
              </a:solidFill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50921AD-50B3-04D1-C2AE-8BB47BF0B5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4496478"/>
              </p:ext>
            </p:extLst>
          </p:nvPr>
        </p:nvGraphicFramePr>
        <p:xfrm>
          <a:off x="-457200" y="3124200"/>
          <a:ext cx="4191000" cy="2927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28418ED-A672-0F2F-F006-C62753DB19F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2970591"/>
              </p:ext>
            </p:extLst>
          </p:nvPr>
        </p:nvGraphicFramePr>
        <p:xfrm>
          <a:off x="2362200" y="3124200"/>
          <a:ext cx="3614689" cy="32325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43AF6312-D2AC-724D-F390-481EEE98B0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96921485"/>
              </p:ext>
            </p:extLst>
          </p:nvPr>
        </p:nvGraphicFramePr>
        <p:xfrm>
          <a:off x="5638800" y="2896523"/>
          <a:ext cx="3429000" cy="37328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pic>
        <p:nvPicPr>
          <p:cNvPr id="10" name="Picture 2" descr="C:\Users\Admin\Desktop\NAACAlogo-1.png">
            <a:extLst>
              <a:ext uri="{FF2B5EF4-FFF2-40B4-BE49-F238E27FC236}">
                <a16:creationId xmlns:a16="http://schemas.microsoft.com/office/drawing/2014/main" id="{56A5D67A-D93C-F161-B8AA-19712307F8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8000999" y="0"/>
            <a:ext cx="1143001" cy="704652"/>
          </a:xfrm>
          <a:prstGeom prst="rect">
            <a:avLst/>
          </a:prstGeom>
          <a:noFill/>
        </p:spPr>
      </p:pic>
      <p:pic>
        <p:nvPicPr>
          <p:cNvPr id="11" name="Picture 2">
            <a:extLst>
              <a:ext uri="{FF2B5EF4-FFF2-40B4-BE49-F238E27FC236}">
                <a16:creationId xmlns:a16="http://schemas.microsoft.com/office/drawing/2014/main" id="{67B1083C-FEB4-A655-CCBE-186E27DB9B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3373" y="0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25026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4D99A4C-65A7-7DD1-3841-CC684EE9AFB9}"/>
              </a:ext>
            </a:extLst>
          </p:cNvPr>
          <p:cNvSpPr txBox="1"/>
          <p:nvPr/>
        </p:nvSpPr>
        <p:spPr>
          <a:xfrm>
            <a:off x="103461" y="1605082"/>
            <a:ext cx="5257800" cy="473706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Saagu</a:t>
            </a:r>
            <a:r>
              <a:rPr lang="en-IN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Baagu</a:t>
            </a:r>
            <a:r>
              <a:rPr lang="en-IN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(Telangana’s AI4AI Initiative)</a:t>
            </a: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Farmers saw income doubling, yield increases, reduced pesticide &amp; fertilizer usage through advisory, soil testing, quality AI tools. </a:t>
            </a:r>
            <a:r>
              <a:rPr lang="en-IN" sz="1200" u="sng" kern="100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World Economic Forum</a:t>
            </a:r>
            <a:endParaRPr lang="en-IN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IN" sz="1400" b="1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APAIMS 2.0 (Andhra Pradesh)</a:t>
            </a: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Digital agriculture platform providing plot-level pest/disease alerts, personalized advisories, real-time notifications. </a:t>
            </a:r>
            <a:r>
              <a:rPr lang="en-IN" sz="1200" u="sng" kern="100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The Times of India</a:t>
            </a:r>
            <a:endParaRPr lang="en-IN" sz="12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N" sz="1400" b="1" kern="1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Plantix</a:t>
            </a:r>
            <a:r>
              <a:rPr lang="en-IN" sz="14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en-IN" sz="12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 existing crop advisory app using image-based disease detection and recommendations. </a:t>
            </a:r>
            <a:r>
              <a:rPr lang="en-IN" sz="1200" u="sng" kern="100" dirty="0">
                <a:solidFill>
                  <a:srgbClr val="0563C1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Wikipedia</a:t>
            </a:r>
            <a:endParaRPr lang="en-IN" sz="1200" u="sng" kern="100" dirty="0">
              <a:solidFill>
                <a:srgbClr val="0563C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with </a:t>
            </a: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availability &amp; quality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poor infrastructure in rural areas, low smartphone penetration, cost barriers, and lack of trust in AI-generated advice.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India Today</a:t>
            </a:r>
            <a:endParaRPr lang="en-IN" sz="1200" u="sng" kern="100" dirty="0">
              <a:solidFill>
                <a:srgbClr val="0563C1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Digital Literacy &amp; Trust Issues: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smallholders struggle with using digital tools; trust &amp; privacy concerns limit adoption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 Springer Link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&amp; Training Barriers 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internet, devices, and 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farmer training reduce the effectiveness of digital extension services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MDPI Sustainability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C38E3-22B7-7216-7282-27E7E9E352E0}"/>
              </a:ext>
            </a:extLst>
          </p:cNvPr>
          <p:cNvSpPr txBox="1"/>
          <p:nvPr/>
        </p:nvSpPr>
        <p:spPr>
          <a:xfrm>
            <a:off x="2732361" y="914400"/>
            <a:ext cx="367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530A7C-A9BB-65D8-85E6-D84BBB93CDE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10200" y="1752600"/>
            <a:ext cx="3581401" cy="4442030"/>
          </a:xfrm>
          <a:prstGeom prst="rect">
            <a:avLst/>
          </a:prstGeom>
        </p:spPr>
      </p:pic>
      <p:pic>
        <p:nvPicPr>
          <p:cNvPr id="8" name="Picture 2" descr="C:\Users\Admin\Desktop\NAACAlogo-1.png">
            <a:extLst>
              <a:ext uri="{FF2B5EF4-FFF2-40B4-BE49-F238E27FC236}">
                <a16:creationId xmlns:a16="http://schemas.microsoft.com/office/drawing/2014/main" id="{0E571931-7B5F-1FBC-2E01-4C146FCB61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8000999" y="0"/>
            <a:ext cx="1143001" cy="704652"/>
          </a:xfrm>
          <a:prstGeom prst="rect">
            <a:avLst/>
          </a:prstGeom>
          <a:noFill/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9B2A641B-A031-3668-B780-CFA462B79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33867"/>
            <a:ext cx="857255" cy="665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9F91AD0-3D73-73A8-54DE-106244B551B2}"/>
              </a:ext>
            </a:extLst>
          </p:cNvPr>
          <p:cNvSpPr txBox="1"/>
          <p:nvPr/>
        </p:nvSpPr>
        <p:spPr>
          <a:xfrm>
            <a:off x="35011" y="6342148"/>
            <a:ext cx="69363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Prototype link - </a:t>
            </a:r>
            <a:r>
              <a:rPr lang="en-IN" dirty="0">
                <a:hlinkClick r:id="rId11"/>
              </a:rPr>
              <a:t>https://youtu.be/vqORNXzhB3s?si=uQBgPC0wqIod-cHB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9082885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SMS PPT TEMPLAT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1274</TotalTime>
  <Words>710</Words>
  <Application>Microsoft Office PowerPoint</Application>
  <PresentationFormat>On-screen Show (4:3)</PresentationFormat>
  <Paragraphs>96</Paragraphs>
  <Slides>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ＭＳ Ｐゴシック</vt:lpstr>
      <vt:lpstr>-apple-system</vt:lpstr>
      <vt:lpstr>Arial</vt:lpstr>
      <vt:lpstr>Calibri</vt:lpstr>
      <vt:lpstr>Times New Roman</vt:lpstr>
      <vt:lpstr>SMS PPT TEMPLATE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HIMANSHU</cp:lastModifiedBy>
  <cp:revision>304</cp:revision>
  <dcterms:created xsi:type="dcterms:W3CDTF">2023-04-05T08:43:35Z</dcterms:created>
  <dcterms:modified xsi:type="dcterms:W3CDTF">2025-10-08T16:39:18Z</dcterms:modified>
</cp:coreProperties>
</file>